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6384" autoAdjust="0"/>
  </p:normalViewPr>
  <p:slideViewPr>
    <p:cSldViewPr snapToGrid="0" snapToObjects="1">
      <p:cViewPr varScale="1">
        <p:scale>
          <a:sx n="84" d="100"/>
          <a:sy n="84" d="100"/>
        </p:scale>
        <p:origin x="18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9937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Good afternoon, Professor and classmates. I’m </a:t>
            </a:r>
            <a:r>
              <a:rPr lang="en-US" sz="1200" b="1" i="0" kern="1200" dirty="0">
                <a:solidFill>
                  <a:schemeClr val="tx1"/>
                </a:solidFill>
                <a:effectLst/>
                <a:latin typeface="+mn-lt"/>
                <a:ea typeface="+mn-ea"/>
                <a:cs typeface="+mn-cs"/>
              </a:rPr>
              <a:t>Ho Man Cheng</a:t>
            </a:r>
            <a:r>
              <a:rPr lang="en-US" sz="1200" b="0" i="0" kern="1200" dirty="0">
                <a:solidFill>
                  <a:schemeClr val="tx1"/>
                </a:solidFill>
                <a:effectLst/>
                <a:latin typeface="+mn-lt"/>
                <a:ea typeface="+mn-ea"/>
                <a:cs typeface="+mn-cs"/>
              </a:rPr>
              <a:t>, and together with my teammate </a:t>
            </a:r>
            <a:r>
              <a:rPr lang="en-US" sz="1200" b="1" i="0" kern="1200" dirty="0">
                <a:solidFill>
                  <a:schemeClr val="tx1"/>
                </a:solidFill>
                <a:effectLst/>
                <a:latin typeface="+mn-lt"/>
                <a:ea typeface="+mn-ea"/>
                <a:cs typeface="+mn-cs"/>
              </a:rPr>
              <a:t>Weitao Peng</a:t>
            </a:r>
            <a:r>
              <a:rPr lang="en-US" sz="1200" b="0" i="0" kern="1200" dirty="0">
                <a:solidFill>
                  <a:schemeClr val="tx1"/>
                </a:solidFill>
                <a:effectLst/>
                <a:latin typeface="+mn-lt"/>
                <a:ea typeface="+mn-ea"/>
                <a:cs typeface="+mn-cs"/>
              </a:rPr>
              <a:t>, we’re presenting our CS699 Data Mining final project: the </a:t>
            </a:r>
            <a:r>
              <a:rPr lang="en-US" sz="1200" b="1" i="0" kern="1200" dirty="0">
                <a:solidFill>
                  <a:schemeClr val="tx1"/>
                </a:solidFill>
                <a:effectLst/>
                <a:latin typeface="+mn-lt"/>
                <a:ea typeface="+mn-ea"/>
                <a:cs typeface="+mn-cs"/>
              </a:rPr>
              <a:t>Classification of Disability Status in U.S. Households</a:t>
            </a:r>
            <a:r>
              <a:rPr lang="en-US" sz="1200" b="0" i="0" kern="1200" dirty="0">
                <a:solidFill>
                  <a:schemeClr val="tx1"/>
                </a:solidFill>
                <a:effectLst/>
                <a:latin typeface="+mn-lt"/>
                <a:ea typeface="+mn-ea"/>
                <a:cs typeface="+mn-cs"/>
              </a:rPr>
              <a:t> using the 2023 American Housing Survey. Over the next ten minutes we’ll walk you through our data, our pipeline, the thirty-six models we built, and the single configuration that came out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Here’s how we’ve split the talk. I’ll cover the problem, the dataset, our tools, the preprocessing pipeline, and the four balancing methods — that’s roughly the first five minutes. Weitao will then take over with the evaluation methodology, the results across all thirty-six models, the best model we identified, the key findings, and our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objective is a </a:t>
            </a:r>
            <a:r>
              <a:rPr lang="en-US" sz="1200" b="1" i="0" kern="1200" dirty="0">
                <a:solidFill>
                  <a:schemeClr val="tx1"/>
                </a:solidFill>
                <a:effectLst/>
                <a:latin typeface="+mn-lt"/>
                <a:ea typeface="+mn-ea"/>
                <a:cs typeface="+mn-cs"/>
              </a:rPr>
              <a:t>binary classification</a:t>
            </a:r>
            <a:r>
              <a:rPr lang="en-US" sz="1200" b="0" i="0" kern="1200" dirty="0">
                <a:solidFill>
                  <a:schemeClr val="tx1"/>
                </a:solidFill>
                <a:effectLst/>
                <a:latin typeface="+mn-lt"/>
                <a:ea typeface="+mn-ea"/>
                <a:cs typeface="+mn-cs"/>
              </a:rPr>
              <a:t> problem: predict whether a U.S. household contains a member with a disability — a Yes/No label. The motivation is practical: these predictions support targeted resource allocation, accessible housing planning, and social-service delivery.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Our dataset comes from the </a:t>
            </a:r>
            <a:r>
              <a:rPr lang="en-US" sz="1200" b="1" i="0" kern="1200" dirty="0">
                <a:solidFill>
                  <a:schemeClr val="tx1"/>
                </a:solidFill>
                <a:effectLst/>
                <a:latin typeface="+mn-lt"/>
                <a:ea typeface="+mn-ea"/>
                <a:cs typeface="+mn-cs"/>
              </a:rPr>
              <a:t>U.S. Census Bureau’s 2023 American Housing Survey</a:t>
            </a:r>
            <a:r>
              <a:rPr lang="en-US" sz="1200" b="0" i="0" kern="1200" dirty="0">
                <a:solidFill>
                  <a:schemeClr val="tx1"/>
                </a:solidFill>
                <a:effectLst/>
                <a:latin typeface="+mn-lt"/>
                <a:ea typeface="+mn-ea"/>
                <a:cs typeface="+mn-cs"/>
              </a:rPr>
              <a:t>. After cleaning we had </a:t>
            </a:r>
            <a:r>
              <a:rPr lang="en-US" sz="1200" b="1" i="0" kern="1200" dirty="0">
                <a:solidFill>
                  <a:schemeClr val="tx1"/>
                </a:solidFill>
                <a:effectLst/>
                <a:latin typeface="+mn-lt"/>
                <a:ea typeface="+mn-ea"/>
                <a:cs typeface="+mn-cs"/>
              </a:rPr>
              <a:t>12,045 households and 118 features</a:t>
            </a:r>
            <a:r>
              <a:rPr lang="en-US" sz="1200" b="0" i="0" kern="1200" dirty="0">
                <a:solidFill>
                  <a:schemeClr val="tx1"/>
                </a:solidFill>
                <a:effectLst/>
                <a:latin typeface="+mn-lt"/>
                <a:ea typeface="+mn-ea"/>
                <a:cs typeface="+mn-cs"/>
              </a:rPr>
              <a:t>. Importantly, the class distribution is imbalanced — only about </a:t>
            </a:r>
            <a:r>
              <a:rPr lang="en-US" sz="1200" b="1" i="0" kern="1200" dirty="0">
                <a:solidFill>
                  <a:schemeClr val="tx1"/>
                </a:solidFill>
                <a:effectLst/>
                <a:latin typeface="+mn-lt"/>
                <a:ea typeface="+mn-ea"/>
                <a:cs typeface="+mn-cs"/>
              </a:rPr>
              <a:t>30.4%</a:t>
            </a:r>
            <a:r>
              <a:rPr lang="en-US" sz="1200" b="0" i="0" kern="1200" dirty="0">
                <a:solidFill>
                  <a:schemeClr val="tx1"/>
                </a:solidFill>
                <a:effectLst/>
                <a:latin typeface="+mn-lt"/>
                <a:ea typeface="+mn-ea"/>
                <a:cs typeface="+mn-cs"/>
              </a:rPr>
              <a:t> of households have a disabled member, while </a:t>
            </a:r>
            <a:r>
              <a:rPr lang="en-US" sz="1200" b="1" i="0" kern="1200" dirty="0">
                <a:solidFill>
                  <a:schemeClr val="tx1"/>
                </a:solidFill>
                <a:effectLst/>
                <a:latin typeface="+mn-lt"/>
                <a:ea typeface="+mn-ea"/>
                <a:cs typeface="+mn-cs"/>
              </a:rPr>
              <a:t>69.6%</a:t>
            </a:r>
            <a:r>
              <a:rPr lang="en-US" sz="1200" b="0" i="0" kern="1200" dirty="0">
                <a:solidFill>
                  <a:schemeClr val="tx1"/>
                </a:solidFill>
                <a:effectLst/>
                <a:latin typeface="+mn-lt"/>
                <a:ea typeface="+mn-ea"/>
                <a:cs typeface="+mn-cs"/>
              </a:rPr>
              <a:t> do not. We used a stratified 80/20 split for training and testing.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built everything in </a:t>
            </a:r>
            <a:r>
              <a:rPr lang="en-US" sz="1200" b="1" i="0" kern="1200" dirty="0">
                <a:solidFill>
                  <a:schemeClr val="tx1"/>
                </a:solidFill>
                <a:effectLst/>
                <a:latin typeface="+mn-lt"/>
                <a:ea typeface="+mn-ea"/>
                <a:cs typeface="+mn-cs"/>
              </a:rPr>
              <a:t>R 4.5.2</a:t>
            </a:r>
            <a:r>
              <a:rPr lang="en-US" sz="1200" b="0" i="0" kern="1200" dirty="0">
                <a:solidFill>
                  <a:schemeClr val="tx1"/>
                </a:solidFill>
                <a:effectLst/>
                <a:latin typeface="+mn-lt"/>
                <a:ea typeface="+mn-ea"/>
                <a:cs typeface="+mn-cs"/>
              </a:rPr>
              <a:t> using twelve packages. caret gave us a unified training and tuning interface; </a:t>
            </a:r>
            <a:r>
              <a:rPr lang="en-US" sz="1200" b="0" i="0" kern="1200" dirty="0" err="1">
                <a:solidFill>
                  <a:schemeClr val="tx1"/>
                </a:solidFill>
                <a:effectLst/>
                <a:latin typeface="+mn-lt"/>
                <a:ea typeface="+mn-ea"/>
                <a:cs typeface="+mn-cs"/>
              </a:rPr>
              <a:t>randomForest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gbm</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 handled the ensembles; e1071 and </a:t>
            </a:r>
            <a:r>
              <a:rPr lang="en-US" sz="1200" b="0" i="0" kern="1200" dirty="0" err="1">
                <a:solidFill>
                  <a:schemeClr val="tx1"/>
                </a:solidFill>
                <a:effectLst/>
                <a:latin typeface="+mn-lt"/>
                <a:ea typeface="+mn-ea"/>
                <a:cs typeface="+mn-cs"/>
              </a:rPr>
              <a:t>kernlab</a:t>
            </a:r>
            <a:r>
              <a:rPr lang="en-US" sz="1200" b="0" i="0" kern="1200" dirty="0">
                <a:solidFill>
                  <a:schemeClr val="tx1"/>
                </a:solidFill>
                <a:effectLst/>
                <a:latin typeface="+mn-lt"/>
                <a:ea typeface="+mn-ea"/>
                <a:cs typeface="+mn-cs"/>
              </a:rPr>
              <a:t> provided SVMs; </a:t>
            </a:r>
            <a:r>
              <a:rPr lang="en-US" sz="1200" b="0" i="0" kern="1200" dirty="0" err="1">
                <a:solidFill>
                  <a:schemeClr val="tx1"/>
                </a:solidFill>
                <a:effectLst/>
                <a:latin typeface="+mn-lt"/>
                <a:ea typeface="+mn-ea"/>
                <a:cs typeface="+mn-cs"/>
              </a:rPr>
              <a:t>nnet</a:t>
            </a:r>
            <a:r>
              <a:rPr lang="en-US" sz="1200" b="0" i="0" kern="1200" dirty="0">
                <a:solidFill>
                  <a:schemeClr val="tx1"/>
                </a:solidFill>
                <a:effectLst/>
                <a:latin typeface="+mn-lt"/>
                <a:ea typeface="+mn-ea"/>
                <a:cs typeface="+mn-cs"/>
              </a:rPr>
              <a:t> gave us neural networks; ROSE and </a:t>
            </a:r>
            <a:r>
              <a:rPr lang="en-US" sz="1200" b="0" i="0" kern="1200" dirty="0" err="1">
                <a:solidFill>
                  <a:schemeClr val="tx1"/>
                </a:solidFill>
                <a:effectLst/>
                <a:latin typeface="+mn-lt"/>
                <a:ea typeface="+mn-ea"/>
                <a:cs typeface="+mn-cs"/>
              </a:rPr>
              <a:t>smotefamily</a:t>
            </a:r>
            <a:r>
              <a:rPr lang="en-US" sz="1200" b="0" i="0" kern="1200" dirty="0">
                <a:solidFill>
                  <a:schemeClr val="tx1"/>
                </a:solidFill>
                <a:effectLst/>
                <a:latin typeface="+mn-lt"/>
                <a:ea typeface="+mn-ea"/>
                <a:cs typeface="+mn-cs"/>
              </a:rPr>
              <a:t> handled resampling; and </a:t>
            </a:r>
            <a:r>
              <a:rPr lang="en-US" sz="1200" b="0" i="0" kern="1200" dirty="0" err="1">
                <a:solidFill>
                  <a:schemeClr val="tx1"/>
                </a:solidFill>
                <a:effectLst/>
                <a:latin typeface="+mn-lt"/>
                <a:ea typeface="+mn-ea"/>
                <a:cs typeface="+mn-cs"/>
              </a:rPr>
              <a:t>pROC</a:t>
            </a:r>
            <a:r>
              <a:rPr lang="en-US" sz="1200" b="0" i="0" kern="1200" dirty="0">
                <a:solidFill>
                  <a:schemeClr val="tx1"/>
                </a:solidFill>
                <a:effectLst/>
                <a:latin typeface="+mn-lt"/>
                <a:ea typeface="+mn-ea"/>
                <a:cs typeface="+mn-cs"/>
              </a:rPr>
              <a:t> handled ROC analysis.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selected </a:t>
            </a:r>
            <a:r>
              <a:rPr lang="en-US" sz="1200" b="1" i="0" kern="1200" dirty="0">
                <a:solidFill>
                  <a:schemeClr val="tx1"/>
                </a:solidFill>
                <a:effectLst/>
                <a:latin typeface="+mn-lt"/>
                <a:ea typeface="+mn-ea"/>
                <a:cs typeface="+mn-cs"/>
              </a:rPr>
              <a:t>nine classification algorithms</a:t>
            </a:r>
            <a:r>
              <a:rPr lang="en-US" sz="1200" b="0" i="0" kern="1200" dirty="0">
                <a:solidFill>
                  <a:schemeClr val="tx1"/>
                </a:solidFill>
                <a:effectLst/>
                <a:latin typeface="+mn-lt"/>
                <a:ea typeface="+mn-ea"/>
                <a:cs typeface="+mn-cs"/>
              </a:rPr>
              <a:t> that span four families — linear, tree-based, kernel, and neural — so the comparison is fair across paradigms. Combined with four balancing methods, that gives us exactly </a:t>
            </a:r>
            <a:r>
              <a:rPr lang="en-US" sz="1200" b="1" i="0" kern="1200" dirty="0">
                <a:solidFill>
                  <a:schemeClr val="tx1"/>
                </a:solidFill>
                <a:effectLst/>
                <a:latin typeface="+mn-lt"/>
                <a:ea typeface="+mn-ea"/>
                <a:cs typeface="+mn-cs"/>
              </a:rPr>
              <a:t>thirty-six model configurations</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pipeline has seven stages. First we drop rows missing the class label. Second we drop the CONTROL identifier column, which has no predictive value. Third, we convert factor codes to numeric. Fourth, we impute missing values using the column median. Fifth, a </a:t>
            </a:r>
            <a:r>
              <a:rPr lang="en-US" sz="1200" b="1" i="0" kern="1200" dirty="0">
                <a:solidFill>
                  <a:schemeClr val="tx1"/>
                </a:solidFill>
                <a:effectLst/>
                <a:latin typeface="+mn-lt"/>
                <a:ea typeface="+mn-ea"/>
                <a:cs typeface="+mn-cs"/>
              </a:rPr>
              <a:t>lenient near-zero-variance filter</a:t>
            </a:r>
            <a:r>
              <a:rPr lang="en-US" sz="1200" b="0" i="0" kern="1200" dirty="0">
                <a:solidFill>
                  <a:schemeClr val="tx1"/>
                </a:solidFill>
                <a:effectLst/>
                <a:latin typeface="+mn-lt"/>
                <a:ea typeface="+mn-ea"/>
                <a:cs typeface="+mn-cs"/>
              </a:rPr>
              <a:t> with a 99-to-1 frequency cutoff removes constants while keeping rare binary signals. Sixth, we </a:t>
            </a:r>
            <a:r>
              <a:rPr lang="en-US" sz="1200" b="0" i="0" kern="1200" dirty="0" err="1">
                <a:solidFill>
                  <a:schemeClr val="tx1"/>
                </a:solidFill>
                <a:effectLst/>
                <a:latin typeface="+mn-lt"/>
                <a:ea typeface="+mn-ea"/>
                <a:cs typeface="+mn-cs"/>
              </a:rPr>
              <a:t>winsorize</a:t>
            </a:r>
            <a:r>
              <a:rPr lang="en-US" sz="1200" b="0" i="0" kern="1200" dirty="0">
                <a:solidFill>
                  <a:schemeClr val="tx1"/>
                </a:solidFill>
                <a:effectLst/>
                <a:latin typeface="+mn-lt"/>
                <a:ea typeface="+mn-ea"/>
                <a:cs typeface="+mn-cs"/>
              </a:rPr>
              <a:t> continuous features to the 1st and 99th percentiles to tame outliers. Seventh, we center and scale.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result: </a:t>
            </a:r>
            <a:r>
              <a:rPr lang="en-US" sz="1200" b="1" i="0" kern="1200" dirty="0">
                <a:solidFill>
                  <a:schemeClr val="tx1"/>
                </a:solidFill>
                <a:effectLst/>
                <a:latin typeface="+mn-lt"/>
                <a:ea typeface="+mn-ea"/>
                <a:cs typeface="+mn-cs"/>
              </a:rPr>
              <a:t>9,636 training rows across 118 features</a:t>
            </a:r>
            <a:r>
              <a:rPr lang="en-US" sz="1200" b="0" i="0" kern="1200" dirty="0">
                <a:solidFill>
                  <a:schemeClr val="tx1"/>
                </a:solidFill>
                <a:effectLst/>
                <a:latin typeface="+mn-lt"/>
                <a:ea typeface="+mn-ea"/>
                <a:cs typeface="+mn-cs"/>
              </a:rPr>
              <a:t>, saved to the three CSVs required by the assignment.</a:t>
            </a: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chart shows why balancing matters. The majority class — households without a disabled member — makes up roughly seventy percent of the training set. If we naively optimize accuracy, a model can hit </a:t>
            </a:r>
            <a:r>
              <a:rPr lang="en-US" sz="1200" b="1" i="0" kern="1200" dirty="0">
                <a:solidFill>
                  <a:schemeClr val="tx1"/>
                </a:solidFill>
                <a:effectLst/>
                <a:latin typeface="+mn-lt"/>
                <a:ea typeface="+mn-ea"/>
                <a:cs typeface="+mn-cs"/>
              </a:rPr>
              <a:t>70%</a:t>
            </a:r>
            <a:r>
              <a:rPr lang="en-US" sz="1200" b="0" i="0" kern="1200" dirty="0">
                <a:solidFill>
                  <a:schemeClr val="tx1"/>
                </a:solidFill>
                <a:effectLst/>
                <a:latin typeface="+mn-lt"/>
                <a:ea typeface="+mn-ea"/>
                <a:cs typeface="+mn-cs"/>
              </a:rPr>
              <a:t> just by always predicting No, and still completely miss the minority class we actually care about. In this problem, the </a:t>
            </a:r>
            <a:r>
              <a:rPr lang="en-US" sz="1200" b="1" i="0" kern="1200" dirty="0">
                <a:solidFill>
                  <a:schemeClr val="tx1"/>
                </a:solidFill>
                <a:effectLst/>
                <a:latin typeface="+mn-lt"/>
                <a:ea typeface="+mn-ea"/>
                <a:cs typeface="+mn-cs"/>
              </a:rPr>
              <a:t>Yes</a:t>
            </a:r>
            <a:r>
              <a:rPr lang="en-US" sz="1200" b="0" i="0" kern="1200" dirty="0">
                <a:solidFill>
                  <a:schemeClr val="tx1"/>
                </a:solidFill>
                <a:effectLst/>
                <a:latin typeface="+mn-lt"/>
                <a:ea typeface="+mn-ea"/>
                <a:cs typeface="+mn-cs"/>
              </a:rPr>
              <a:t> class is the policy-relevant one, so recall on that class is what we want to maximize.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applied four balancing strategies — and only to the training set; the test set stays untouched so our evaluation reflects reality.</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Random </a:t>
            </a:r>
            <a:r>
              <a:rPr lang="en-US" sz="1200" b="1" i="0" kern="1200" dirty="0" err="1">
                <a:solidFill>
                  <a:schemeClr val="tx1"/>
                </a:solidFill>
                <a:effectLst/>
                <a:latin typeface="+mn-lt"/>
                <a:ea typeface="+mn-ea"/>
                <a:cs typeface="+mn-cs"/>
              </a:rPr>
              <a:t>Undersampling</a:t>
            </a:r>
            <a:r>
              <a:rPr lang="en-US" sz="1200" b="0" i="0" kern="1200" dirty="0">
                <a:solidFill>
                  <a:schemeClr val="tx1"/>
                </a:solidFill>
                <a:effectLst/>
                <a:latin typeface="+mn-lt"/>
                <a:ea typeface="+mn-ea"/>
                <a:cs typeface="+mn-cs"/>
              </a:rPr>
              <a:t> removes majority-class rows until both classes match. </a:t>
            </a:r>
            <a:r>
              <a:rPr lang="en-US" sz="1200" b="1" i="0" kern="1200" dirty="0">
                <a:solidFill>
                  <a:schemeClr val="tx1"/>
                </a:solidFill>
                <a:effectLst/>
                <a:latin typeface="+mn-lt"/>
                <a:ea typeface="+mn-ea"/>
                <a:cs typeface="+mn-cs"/>
              </a:rPr>
              <a:t>Random Oversampling</a:t>
            </a:r>
            <a:r>
              <a:rPr lang="en-US" sz="1200" b="0" i="0" kern="1200" dirty="0">
                <a:solidFill>
                  <a:schemeClr val="tx1"/>
                </a:solidFill>
                <a:effectLst/>
                <a:latin typeface="+mn-lt"/>
                <a:ea typeface="+mn-ea"/>
                <a:cs typeface="+mn-cs"/>
              </a:rPr>
              <a:t> duplicates minority rows. </a:t>
            </a:r>
            <a:r>
              <a:rPr lang="en-US" sz="1200" b="1" i="0" kern="1200" dirty="0">
                <a:solidFill>
                  <a:schemeClr val="tx1"/>
                </a:solidFill>
                <a:effectLst/>
                <a:latin typeface="+mn-lt"/>
                <a:ea typeface="+mn-ea"/>
                <a:cs typeface="+mn-cs"/>
              </a:rPr>
              <a:t>SMOTE</a:t>
            </a:r>
            <a:r>
              <a:rPr lang="en-US" sz="1200" b="0" i="0" kern="1200" dirty="0">
                <a:solidFill>
                  <a:schemeClr val="tx1"/>
                </a:solidFill>
                <a:effectLst/>
                <a:latin typeface="+mn-lt"/>
                <a:ea typeface="+mn-ea"/>
                <a:cs typeface="+mn-cs"/>
              </a:rPr>
              <a:t>, with K equal to five, synthesizes new minority samples by interpolating between nearest neighbors. Finally </a:t>
            </a:r>
            <a:r>
              <a:rPr lang="en-US" sz="1200" b="1" i="0" kern="1200" dirty="0">
                <a:solidFill>
                  <a:schemeClr val="tx1"/>
                </a:solidFill>
                <a:effectLst/>
                <a:latin typeface="+mn-lt"/>
                <a:ea typeface="+mn-ea"/>
                <a:cs typeface="+mn-cs"/>
              </a:rPr>
              <a:t>ROSE</a:t>
            </a:r>
            <a:r>
              <a:rPr lang="en-US" sz="1200" b="0" i="0" kern="1200" dirty="0">
                <a:solidFill>
                  <a:schemeClr val="tx1"/>
                </a:solidFill>
                <a:effectLst/>
                <a:latin typeface="+mn-lt"/>
                <a:ea typeface="+mn-ea"/>
                <a:cs typeface="+mn-cs"/>
              </a:rPr>
              <a:t> uses a smoothed bootstrap to generate a fully synthetic balanced sample. Each method rebalances the training data differently — and, as you’ll see, they give very different downstream results. I’ll now hand it over to Weitao to walk through the evaluation.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Thank you, Ho Man. Our evaluation protocol is deliberately strict. We held out </a:t>
            </a:r>
            <a:r>
              <a:rPr lang="en-US" sz="1200" b="1" i="0" kern="1200" dirty="0">
                <a:solidFill>
                  <a:schemeClr val="tx1"/>
                </a:solidFill>
                <a:effectLst/>
                <a:latin typeface="+mn-lt"/>
                <a:ea typeface="+mn-ea"/>
                <a:cs typeface="+mn-cs"/>
              </a:rPr>
              <a:t>2,409 rows</a:t>
            </a:r>
            <a:r>
              <a:rPr lang="en-US" sz="1200" b="0" i="0" kern="1200" dirty="0">
                <a:solidFill>
                  <a:schemeClr val="tx1"/>
                </a:solidFill>
                <a:effectLst/>
                <a:latin typeface="+mn-lt"/>
                <a:ea typeface="+mn-ea"/>
                <a:cs typeface="+mn-cs"/>
              </a:rPr>
              <a:t> as an untouched, unbalanced test set. We used </a:t>
            </a:r>
            <a:r>
              <a:rPr lang="en-US" sz="1200" b="1" i="0" kern="1200" dirty="0">
                <a:solidFill>
                  <a:schemeClr val="tx1"/>
                </a:solidFill>
                <a:effectLst/>
                <a:latin typeface="+mn-lt"/>
                <a:ea typeface="+mn-ea"/>
                <a:cs typeface="+mn-cs"/>
              </a:rPr>
              <a:t>5-fold cross-validation</a:t>
            </a:r>
            <a:r>
              <a:rPr lang="en-US" sz="1200" b="0" i="0" kern="1200" dirty="0">
                <a:solidFill>
                  <a:schemeClr val="tx1"/>
                </a:solidFill>
                <a:effectLst/>
                <a:latin typeface="+mn-lt"/>
                <a:ea typeface="+mn-ea"/>
                <a:cs typeface="+mn-cs"/>
              </a:rPr>
              <a:t> only for hyperparameter tuning — never for final scoring — and we locked the decision threshold at </a:t>
            </a:r>
            <a:r>
              <a:rPr lang="en-US" sz="1200" b="1" i="0" kern="1200" dirty="0">
                <a:solidFill>
                  <a:schemeClr val="tx1"/>
                </a:solidFill>
                <a:effectLst/>
                <a:latin typeface="+mn-lt"/>
                <a:ea typeface="+mn-ea"/>
                <a:cs typeface="+mn-cs"/>
              </a:rPr>
              <a:t>0.5</a:t>
            </a:r>
            <a:r>
              <a:rPr lang="en-US" sz="1200" b="0" i="0" kern="1200" dirty="0">
                <a:solidFill>
                  <a:schemeClr val="tx1"/>
                </a:solidFill>
                <a:effectLst/>
                <a:latin typeface="+mn-lt"/>
                <a:ea typeface="+mn-ea"/>
                <a:cs typeface="+mn-cs"/>
              </a:rPr>
              <a:t> to keep the comparison fair across all thirty-six models.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report recall on each class separately — </a:t>
            </a:r>
            <a:r>
              <a:rPr lang="en-US" sz="1200" b="1" i="0" kern="1200" dirty="0">
                <a:solidFill>
                  <a:schemeClr val="tx1"/>
                </a:solidFill>
                <a:effectLst/>
                <a:latin typeface="+mn-lt"/>
                <a:ea typeface="+mn-ea"/>
                <a:cs typeface="+mn-cs"/>
              </a:rPr>
              <a:t>Yes TPR</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No TPR</a:t>
            </a:r>
            <a:r>
              <a:rPr lang="en-US" sz="1200" b="0" i="0" kern="1200" dirty="0">
                <a:solidFill>
                  <a:schemeClr val="tx1"/>
                </a:solidFill>
                <a:effectLst/>
                <a:latin typeface="+mn-lt"/>
                <a:ea typeface="+mn-ea"/>
                <a:cs typeface="+mn-cs"/>
              </a:rPr>
              <a:t> — along with Precision, F1, AUC, MCC, and Kappa. The extra-credit bar set by the assignment is demanding: </a:t>
            </a:r>
            <a:r>
              <a:rPr lang="en-US" sz="1200" b="1" i="0" kern="1200" dirty="0">
                <a:solidFill>
                  <a:schemeClr val="tx1"/>
                </a:solidFill>
                <a:effectLst/>
                <a:latin typeface="+mn-lt"/>
                <a:ea typeface="+mn-ea"/>
                <a:cs typeface="+mn-cs"/>
              </a:rPr>
              <a:t>Yes TPR must reach 0.77</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No TPR must reach 0.73</a:t>
            </a:r>
            <a:r>
              <a:rPr lang="en-US" sz="1200" b="0" i="0" kern="1200" dirty="0">
                <a:solidFill>
                  <a:schemeClr val="tx1"/>
                </a:solidFill>
                <a:effectLst/>
                <a:latin typeface="+mn-lt"/>
                <a:ea typeface="+mn-ea"/>
                <a:cs typeface="+mn-cs"/>
              </a:rPr>
              <a:t> simultaneously.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scatter plots Yes TPR on the x-axis against No TPR on the y-axis for every one of the thirty-six models. A few patterns stand out.</a:t>
            </a:r>
          </a:p>
          <a:p>
            <a:endParaRPr lang="en-US" sz="1200" b="0" i="0" kern="1200" dirty="0">
              <a:solidFill>
                <a:schemeClr val="tx1"/>
              </a:solidFill>
              <a:effectLst/>
              <a:latin typeface="+mn-lt"/>
              <a:ea typeface="+mn-ea"/>
              <a:cs typeface="+mn-cs"/>
            </a:endParaRPr>
          </a:p>
          <a:p>
            <a:r>
              <a:rPr lang="en-US" sz="1200" b="1" i="0" kern="1200" dirty="0" err="1">
                <a:solidFill>
                  <a:schemeClr val="tx1"/>
                </a:solidFill>
                <a:effectLst/>
                <a:latin typeface="+mn-lt"/>
                <a:ea typeface="+mn-ea"/>
                <a:cs typeface="+mn-cs"/>
              </a:rPr>
              <a:t>Undersampling</a:t>
            </a:r>
            <a:r>
              <a:rPr lang="en-US" sz="1200" b="0" i="0" kern="1200" dirty="0">
                <a:solidFill>
                  <a:schemeClr val="tx1"/>
                </a:solidFill>
                <a:effectLst/>
                <a:latin typeface="+mn-lt"/>
                <a:ea typeface="+mn-ea"/>
                <a:cs typeface="+mn-cs"/>
              </a:rPr>
              <a:t> — the red cluster — pushes Yes-TPR the highest, but at the cost of No-TPR. </a:t>
            </a:r>
            <a:r>
              <a:rPr lang="en-US" sz="1200" b="1" i="0" kern="1200" dirty="0">
                <a:solidFill>
                  <a:schemeClr val="tx1"/>
                </a:solidFill>
                <a:effectLst/>
                <a:latin typeface="+mn-lt"/>
                <a:ea typeface="+mn-ea"/>
                <a:cs typeface="+mn-cs"/>
              </a:rPr>
              <a:t>Oversampling and SMOTE</a:t>
            </a:r>
            <a:r>
              <a:rPr lang="en-US" sz="1200" b="0" i="0" kern="1200" dirty="0">
                <a:solidFill>
                  <a:schemeClr val="tx1"/>
                </a:solidFill>
                <a:effectLst/>
                <a:latin typeface="+mn-lt"/>
                <a:ea typeface="+mn-ea"/>
                <a:cs typeface="+mn-cs"/>
              </a:rPr>
              <a:t> do the opposite: they favor the majority class. </a:t>
            </a:r>
            <a:r>
              <a:rPr lang="en-US" sz="1200" b="1" i="0" kern="1200" dirty="0">
                <a:solidFill>
                  <a:schemeClr val="tx1"/>
                </a:solidFill>
                <a:effectLst/>
                <a:latin typeface="+mn-lt"/>
                <a:ea typeface="+mn-ea"/>
                <a:cs typeface="+mn-cs"/>
              </a:rPr>
              <a:t>Tree ensembles</a:t>
            </a:r>
            <a:r>
              <a:rPr lang="en-US" sz="1200" b="0" i="0" kern="1200" dirty="0">
                <a:solidFill>
                  <a:schemeClr val="tx1"/>
                </a:solidFill>
                <a:effectLst/>
                <a:latin typeface="+mn-lt"/>
                <a:ea typeface="+mn-ea"/>
                <a:cs typeface="+mn-cs"/>
              </a:rPr>
              <a:t> — Random Forest, GBM, </a:t>
            </a:r>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 — cluster in the upper band with strong overall AUC. </a:t>
            </a:r>
            <a:r>
              <a:rPr lang="en-US" sz="1200" b="1" i="0" kern="1200" dirty="0">
                <a:solidFill>
                  <a:schemeClr val="tx1"/>
                </a:solidFill>
                <a:effectLst/>
                <a:latin typeface="+mn-lt"/>
                <a:ea typeface="+mn-ea"/>
                <a:cs typeface="+mn-cs"/>
              </a:rPr>
              <a:t>ROSE</a:t>
            </a:r>
            <a:r>
              <a:rPr lang="en-US" sz="1200" b="0" i="0" kern="1200" dirty="0">
                <a:solidFill>
                  <a:schemeClr val="tx1"/>
                </a:solidFill>
                <a:effectLst/>
                <a:latin typeface="+mn-lt"/>
                <a:ea typeface="+mn-ea"/>
                <a:cs typeface="+mn-cs"/>
              </a:rPr>
              <a:t> consistently underperformed the other three balancers on our data. And critically, only a small handful of points cross </a:t>
            </a:r>
            <a:r>
              <a:rPr lang="en-US" sz="1200" b="0" i="1" kern="1200" dirty="0">
                <a:solidFill>
                  <a:schemeClr val="tx1"/>
                </a:solidFill>
                <a:effectLst/>
                <a:latin typeface="+mn-lt"/>
                <a:ea typeface="+mn-ea"/>
                <a:cs typeface="+mn-cs"/>
              </a:rPr>
              <a:t>both</a:t>
            </a:r>
            <a:r>
              <a:rPr lang="en-US" sz="1200" b="0" i="0" kern="1200" dirty="0">
                <a:solidFill>
                  <a:schemeClr val="tx1"/>
                </a:solidFill>
                <a:effectLst/>
                <a:latin typeface="+mn-lt"/>
                <a:ea typeface="+mn-ea"/>
                <a:cs typeface="+mn-cs"/>
              </a:rPr>
              <a:t> dashed thresholds into the upper-right quadrant that the extra-credit target defines.</a:t>
            </a: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winner is </a:t>
            </a:r>
            <a:r>
              <a:rPr lang="en-US" sz="1200" b="1" i="0" kern="1200" dirty="0">
                <a:solidFill>
                  <a:schemeClr val="tx1"/>
                </a:solidFill>
                <a:effectLst/>
                <a:latin typeface="+mn-lt"/>
                <a:ea typeface="+mn-ea"/>
                <a:cs typeface="+mn-cs"/>
              </a:rPr>
              <a:t>Model 2</a:t>
            </a:r>
            <a:r>
              <a:rPr lang="en-US" sz="1200" b="0" i="0" kern="1200" dirty="0">
                <a:solidFill>
                  <a:schemeClr val="tx1"/>
                </a:solidFill>
                <a:effectLst/>
                <a:latin typeface="+mn-lt"/>
                <a:ea typeface="+mn-ea"/>
                <a:cs typeface="+mn-cs"/>
              </a:rPr>
              <a:t>: Random </a:t>
            </a:r>
            <a:r>
              <a:rPr lang="en-US" sz="1200" b="0" i="0" kern="1200" dirty="0" err="1">
                <a:solidFill>
                  <a:schemeClr val="tx1"/>
                </a:solidFill>
                <a:effectLst/>
                <a:latin typeface="+mn-lt"/>
                <a:ea typeface="+mn-ea"/>
                <a:cs typeface="+mn-cs"/>
              </a:rPr>
              <a:t>Undersampling</a:t>
            </a:r>
            <a:r>
              <a:rPr lang="en-US" sz="1200" b="0" i="0" kern="1200" dirty="0">
                <a:solidFill>
                  <a:schemeClr val="tx1"/>
                </a:solidFill>
                <a:effectLst/>
                <a:latin typeface="+mn-lt"/>
                <a:ea typeface="+mn-ea"/>
                <a:cs typeface="+mn-cs"/>
              </a:rPr>
              <a:t> paired with a Decision Tree. It scored </a:t>
            </a:r>
            <a:r>
              <a:rPr lang="en-US" sz="1200" b="1" i="0" kern="1200" dirty="0">
                <a:solidFill>
                  <a:schemeClr val="tx1"/>
                </a:solidFill>
                <a:effectLst/>
                <a:latin typeface="+mn-lt"/>
                <a:ea typeface="+mn-ea"/>
                <a:cs typeface="+mn-cs"/>
              </a:rPr>
              <a:t>Yes TPR of 0.7730</a:t>
            </a:r>
            <a:r>
              <a:rPr lang="en-US" sz="1200" b="0" i="0" kern="1200" dirty="0">
                <a:solidFill>
                  <a:schemeClr val="tx1"/>
                </a:solidFill>
                <a:effectLst/>
                <a:latin typeface="+mn-lt"/>
                <a:ea typeface="+mn-ea"/>
                <a:cs typeface="+mn-cs"/>
              </a:rPr>
              <a:t>, which clears the 0.77 bar, and </a:t>
            </a:r>
            <a:r>
              <a:rPr lang="en-US" sz="1200" b="1" i="0" kern="1200" dirty="0">
                <a:solidFill>
                  <a:schemeClr val="tx1"/>
                </a:solidFill>
                <a:effectLst/>
                <a:latin typeface="+mn-lt"/>
                <a:ea typeface="+mn-ea"/>
                <a:cs typeface="+mn-cs"/>
              </a:rPr>
              <a:t>No TPR of 0.7322</a:t>
            </a:r>
            <a:r>
              <a:rPr lang="en-US" sz="1200" b="0" i="0" kern="1200" dirty="0">
                <a:solidFill>
                  <a:schemeClr val="tx1"/>
                </a:solidFill>
                <a:effectLst/>
                <a:latin typeface="+mn-lt"/>
                <a:ea typeface="+mn-ea"/>
                <a:cs typeface="+mn-cs"/>
              </a:rPr>
              <a:t>, which clears the 0.73 bar — the only configuration to meet both simultaneously. AUC was </a:t>
            </a:r>
            <a:r>
              <a:rPr lang="en-US" sz="1200" b="1" i="0" kern="1200" dirty="0">
                <a:solidFill>
                  <a:schemeClr val="tx1"/>
                </a:solidFill>
                <a:effectLst/>
                <a:latin typeface="+mn-lt"/>
                <a:ea typeface="+mn-ea"/>
                <a:cs typeface="+mn-cs"/>
              </a:rPr>
              <a:t>0.7990</a:t>
            </a:r>
            <a:r>
              <a:rPr lang="en-US" sz="1200" b="0" i="0" kern="1200" dirty="0">
                <a:solidFill>
                  <a:schemeClr val="tx1"/>
                </a:solidFill>
                <a:effectLst/>
                <a:latin typeface="+mn-lt"/>
                <a:ea typeface="+mn-ea"/>
                <a:cs typeface="+mn-cs"/>
              </a:rPr>
              <a:t>, F1 on the Yes class was </a:t>
            </a:r>
            <a:r>
              <a:rPr lang="en-US" sz="1200" b="1" i="0" kern="1200" dirty="0">
                <a:solidFill>
                  <a:schemeClr val="tx1"/>
                </a:solidFill>
                <a:effectLst/>
                <a:latin typeface="+mn-lt"/>
                <a:ea typeface="+mn-ea"/>
                <a:cs typeface="+mn-cs"/>
              </a:rPr>
              <a:t>0.6140</a:t>
            </a:r>
            <a:r>
              <a:rPr lang="en-US" sz="1200" b="0" i="0" kern="1200" dirty="0">
                <a:solidFill>
                  <a:schemeClr val="tx1"/>
                </a:solidFill>
                <a:effectLst/>
                <a:latin typeface="+mn-lt"/>
                <a:ea typeface="+mn-ea"/>
                <a:cs typeface="+mn-cs"/>
              </a:rPr>
              <a:t>, and Cohen’s Kappa was </a:t>
            </a:r>
            <a:r>
              <a:rPr lang="en-US" sz="1200" b="1" i="0" kern="1200" dirty="0">
                <a:solidFill>
                  <a:schemeClr val="tx1"/>
                </a:solidFill>
                <a:effectLst/>
                <a:latin typeface="+mn-lt"/>
                <a:ea typeface="+mn-ea"/>
                <a:cs typeface="+mn-cs"/>
              </a:rPr>
              <a:t>0.4582</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chart on the right ranks the top ten models by combined TPR. Model 2 sits at the top. This is a reminder that a pruned Decision Tree, given a balanced training distribution, can outperform much heavier ensembles on the metrics that actually matter for this problem.</a:t>
            </a: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Four takeaways. </a:t>
            </a:r>
            <a:r>
              <a:rPr lang="en-US" sz="1200" b="1" i="0" kern="1200" dirty="0">
                <a:solidFill>
                  <a:schemeClr val="tx1"/>
                </a:solidFill>
                <a:effectLst/>
                <a:latin typeface="+mn-lt"/>
                <a:ea typeface="+mn-ea"/>
                <a:cs typeface="+mn-cs"/>
              </a:rPr>
              <a:t>First</a:t>
            </a:r>
            <a:r>
              <a:rPr lang="en-US" sz="1200" b="0" i="0" kern="1200" dirty="0">
                <a:solidFill>
                  <a:schemeClr val="tx1"/>
                </a:solidFill>
                <a:effectLst/>
                <a:latin typeface="+mn-lt"/>
                <a:ea typeface="+mn-ea"/>
                <a:cs typeface="+mn-cs"/>
              </a:rPr>
              <a:t>, balancing beats accuracy chasing — </a:t>
            </a:r>
            <a:r>
              <a:rPr lang="en-US" sz="1200" b="0" i="0" kern="1200" dirty="0" err="1">
                <a:solidFill>
                  <a:schemeClr val="tx1"/>
                </a:solidFill>
                <a:effectLst/>
                <a:latin typeface="+mn-lt"/>
                <a:ea typeface="+mn-ea"/>
                <a:cs typeface="+mn-cs"/>
              </a:rPr>
              <a:t>undersampling</a:t>
            </a:r>
            <a:r>
              <a:rPr lang="en-US" sz="1200" b="0" i="0" kern="1200" dirty="0">
                <a:solidFill>
                  <a:schemeClr val="tx1"/>
                </a:solidFill>
                <a:effectLst/>
                <a:latin typeface="+mn-lt"/>
                <a:ea typeface="+mn-ea"/>
                <a:cs typeface="+mn-cs"/>
              </a:rPr>
              <a:t> unlocked the highest minority-class recall even though it shrank the training set to roughly 5,800 rows. </a:t>
            </a:r>
            <a:r>
              <a:rPr lang="en-US" sz="1200" b="1" i="0" kern="1200" dirty="0">
                <a:solidFill>
                  <a:schemeClr val="tx1"/>
                </a:solidFill>
                <a:effectLst/>
                <a:latin typeface="+mn-lt"/>
                <a:ea typeface="+mn-ea"/>
                <a:cs typeface="+mn-cs"/>
              </a:rPr>
              <a:t>Second</a:t>
            </a:r>
            <a:r>
              <a:rPr lang="en-US" sz="1200" b="0" i="0" kern="1200" dirty="0">
                <a:solidFill>
                  <a:schemeClr val="tx1"/>
                </a:solidFill>
                <a:effectLst/>
                <a:latin typeface="+mn-lt"/>
                <a:ea typeface="+mn-ea"/>
                <a:cs typeface="+mn-cs"/>
              </a:rPr>
              <a:t>, simple models can win — our pruned Decision Tree beat every ensemble on the dual-recall target. </a:t>
            </a:r>
            <a:r>
              <a:rPr lang="en-US" sz="1200" b="1" i="0" kern="1200" dirty="0">
                <a:solidFill>
                  <a:schemeClr val="tx1"/>
                </a:solidFill>
                <a:effectLst/>
                <a:latin typeface="+mn-lt"/>
                <a:ea typeface="+mn-ea"/>
                <a:cs typeface="+mn-cs"/>
              </a:rPr>
              <a:t>Third</a:t>
            </a:r>
            <a:r>
              <a:rPr lang="en-US" sz="1200" b="0" i="0" kern="1200" dirty="0">
                <a:solidFill>
                  <a:schemeClr val="tx1"/>
                </a:solidFill>
                <a:effectLst/>
                <a:latin typeface="+mn-lt"/>
                <a:ea typeface="+mn-ea"/>
                <a:cs typeface="+mn-cs"/>
              </a:rPr>
              <a:t>, ensembles still dominate overall AUC — Random Forest and </a:t>
            </a:r>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 lead the AUC ranking, but their Yes-TPR lags because the decision threshold of 0.5 is not optimal for their probability distributions. </a:t>
            </a:r>
            <a:r>
              <a:rPr lang="en-US" sz="1200" b="1" i="0" kern="1200" dirty="0">
                <a:solidFill>
                  <a:schemeClr val="tx1"/>
                </a:solidFill>
                <a:effectLst/>
                <a:latin typeface="+mn-lt"/>
                <a:ea typeface="+mn-ea"/>
                <a:cs typeface="+mn-cs"/>
              </a:rPr>
              <a:t>Fourth</a:t>
            </a:r>
            <a:r>
              <a:rPr lang="en-US" sz="1200" b="0" i="0" kern="1200" dirty="0">
                <a:solidFill>
                  <a:schemeClr val="tx1"/>
                </a:solidFill>
                <a:effectLst/>
                <a:latin typeface="+mn-lt"/>
                <a:ea typeface="+mn-ea"/>
                <a:cs typeface="+mn-cs"/>
              </a:rPr>
              <a:t>, ROSE offered little lift on this dataset — its smoothed-bootstrap samples added noise without stabilizing the decision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summarize: thirty-six models, nine algorithms, four balancing methods, one strict evaluation protocol — and </a:t>
            </a:r>
            <a:r>
              <a:rPr lang="en-US" sz="1200" b="1" i="0" kern="1200" dirty="0">
                <a:solidFill>
                  <a:schemeClr val="tx1"/>
                </a:solidFill>
                <a:effectLst/>
                <a:latin typeface="+mn-lt"/>
                <a:ea typeface="+mn-ea"/>
                <a:cs typeface="+mn-cs"/>
              </a:rPr>
              <a:t>Model 2, </a:t>
            </a:r>
            <a:r>
              <a:rPr lang="en-US" sz="1200" b="1" i="0" kern="1200" dirty="0" err="1">
                <a:solidFill>
                  <a:schemeClr val="tx1"/>
                </a:solidFill>
                <a:effectLst/>
                <a:latin typeface="+mn-lt"/>
                <a:ea typeface="+mn-ea"/>
                <a:cs typeface="+mn-cs"/>
              </a:rPr>
              <a:t>Undersampling</a:t>
            </a:r>
            <a:r>
              <a:rPr lang="en-US" sz="1200" b="1" i="0" kern="1200" dirty="0">
                <a:solidFill>
                  <a:schemeClr val="tx1"/>
                </a:solidFill>
                <a:effectLst/>
                <a:latin typeface="+mn-lt"/>
                <a:ea typeface="+mn-ea"/>
                <a:cs typeface="+mn-cs"/>
              </a:rPr>
              <a:t> plus Decision Tree, is the only one that meets both extra-credit thresholds</a:t>
            </a:r>
            <a:r>
              <a:rPr lang="en-US" sz="1200" b="0" i="0" kern="1200" dirty="0">
                <a:solidFill>
                  <a:schemeClr val="tx1"/>
                </a:solidFill>
                <a:effectLst/>
                <a:latin typeface="+mn-lt"/>
                <a:ea typeface="+mn-ea"/>
                <a:cs typeface="+mn-cs"/>
              </a:rPr>
              <a:t>. Thank you for your time — we’re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3931920"/>
            <a:ext cx="9144000" cy="1211580"/>
          </a:xfrm>
          <a:prstGeom prst="rect">
            <a:avLst/>
          </a:prstGeom>
          <a:solidFill>
            <a:srgbClr val="408EC6">
              <a:alpha val="70000"/>
            </a:srgbClr>
          </a:solidFill>
          <a:ln/>
        </p:spPr>
        <p:txBody>
          <a:bodyPr/>
          <a:lstStyle/>
          <a:p>
            <a:endParaRPr lang="en-US"/>
          </a:p>
        </p:txBody>
      </p:sp>
      <p:sp>
        <p:nvSpPr>
          <p:cNvPr id="3" name="Text 1"/>
          <p:cNvSpPr/>
          <p:nvPr/>
        </p:nvSpPr>
        <p:spPr>
          <a:xfrm>
            <a:off x="731520" y="731520"/>
            <a:ext cx="7680960" cy="548640"/>
          </a:xfrm>
          <a:prstGeom prst="rect">
            <a:avLst/>
          </a:prstGeom>
          <a:noFill/>
          <a:ln/>
        </p:spPr>
        <p:txBody>
          <a:bodyPr wrap="square" rtlCol="0" anchor="ctr"/>
          <a:lstStyle/>
          <a:p>
            <a:pPr marL="0" indent="0">
              <a:buNone/>
            </a:pPr>
            <a:r>
              <a:rPr lang="en-US" sz="1800" kern="0" spc="400" dirty="0">
                <a:solidFill>
                  <a:srgbClr val="408EC6"/>
                </a:solidFill>
                <a:latin typeface="Calibri" pitchFamily="34" charset="0"/>
                <a:ea typeface="Calibri" pitchFamily="34" charset="-122"/>
                <a:cs typeface="Calibri" pitchFamily="34" charset="-120"/>
              </a:rPr>
              <a:t>CS699 Data Mining</a:t>
            </a:r>
            <a:endParaRPr lang="en-US" sz="1800" dirty="0"/>
          </a:p>
        </p:txBody>
      </p:sp>
      <p:sp>
        <p:nvSpPr>
          <p:cNvPr id="4" name="Text 2"/>
          <p:cNvSpPr/>
          <p:nvPr/>
        </p:nvSpPr>
        <p:spPr>
          <a:xfrm>
            <a:off x="731520" y="1463040"/>
            <a:ext cx="7680960" cy="18288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Classification of Disability Status</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in U.S. Households</a:t>
            </a:r>
            <a:endParaRPr lang="en-US" sz="3600" dirty="0"/>
          </a:p>
        </p:txBody>
      </p:sp>
      <p:sp>
        <p:nvSpPr>
          <p:cNvPr id="5" name="Text 3"/>
          <p:cNvSpPr/>
          <p:nvPr/>
        </p:nvSpPr>
        <p:spPr>
          <a:xfrm>
            <a:off x="731520" y="3108960"/>
            <a:ext cx="7680960" cy="457200"/>
          </a:xfrm>
          <a:prstGeom prst="rect">
            <a:avLst/>
          </a:prstGeom>
          <a:noFill/>
          <a:ln/>
        </p:spPr>
        <p:txBody>
          <a:bodyPr wrap="square" rtlCol="0" anchor="ctr"/>
          <a:lstStyle/>
          <a:p>
            <a:pPr marL="0" indent="0">
              <a:buNone/>
            </a:pPr>
            <a:r>
              <a:rPr lang="en-US" sz="1600" i="1" dirty="0">
                <a:solidFill>
                  <a:srgbClr val="777777"/>
                </a:solidFill>
                <a:latin typeface="Calibri" pitchFamily="34" charset="0"/>
                <a:ea typeface="Calibri" pitchFamily="34" charset="-122"/>
                <a:cs typeface="Calibri" pitchFamily="34" charset="-120"/>
              </a:rPr>
              <a:t>Using the 2023 American Housing Survey (AHS) Dataset</a:t>
            </a:r>
            <a:endParaRPr lang="en-US" sz="1600" dirty="0"/>
          </a:p>
        </p:txBody>
      </p:sp>
      <p:sp>
        <p:nvSpPr>
          <p:cNvPr id="6" name="Text 4"/>
          <p:cNvSpPr/>
          <p:nvPr/>
        </p:nvSpPr>
        <p:spPr>
          <a:xfrm>
            <a:off x="731520" y="4206240"/>
            <a:ext cx="4572000" cy="36576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Ho Man Cheng</a:t>
            </a:r>
            <a:r>
              <a:rPr lang="en-US" sz="1800" dirty="0">
                <a:solidFill>
                  <a:srgbClr val="FFFFFF"/>
                </a:solidFill>
                <a:latin typeface="Calibri" pitchFamily="34" charset="0"/>
                <a:ea typeface="Calibri" pitchFamily="34" charset="-122"/>
                <a:cs typeface="Calibri" pitchFamily="34" charset="-120"/>
              </a:rPr>
              <a:t>  &amp;  </a:t>
            </a:r>
            <a:r>
              <a:rPr lang="en-US" sz="1800" b="1" dirty="0">
                <a:solidFill>
                  <a:srgbClr val="FFFFFF"/>
                </a:solidFill>
                <a:latin typeface="Calibri" pitchFamily="34" charset="0"/>
                <a:ea typeface="Calibri" pitchFamily="34" charset="-122"/>
                <a:cs typeface="Calibri" pitchFamily="34" charset="-120"/>
              </a:rPr>
              <a:t>Weitao Peng</a:t>
            </a:r>
            <a:endParaRPr lang="en-US" sz="1800" dirty="0"/>
          </a:p>
        </p:txBody>
      </p:sp>
      <p:sp>
        <p:nvSpPr>
          <p:cNvPr id="7" name="Text 5"/>
          <p:cNvSpPr/>
          <p:nvPr/>
        </p:nvSpPr>
        <p:spPr>
          <a:xfrm>
            <a:off x="731520" y="4617720"/>
            <a:ext cx="4572000" cy="274320"/>
          </a:xfrm>
          <a:prstGeom prst="rect">
            <a:avLst/>
          </a:prstGeom>
          <a:noFill/>
          <a:ln/>
        </p:spPr>
        <p:txBody>
          <a:bodyPr wrap="square" rtlCol="0" anchor="ctr"/>
          <a:lstStyle/>
          <a:p>
            <a:pPr marL="0" indent="0">
              <a:buNone/>
            </a:pPr>
            <a:r>
              <a:rPr lang="en-US" sz="1200" dirty="0">
                <a:solidFill>
                  <a:srgbClr val="777777"/>
                </a:solidFill>
                <a:latin typeface="Calibri" pitchFamily="34" charset="0"/>
                <a:ea typeface="Calibri" pitchFamily="34" charset="-122"/>
                <a:cs typeface="Calibri" pitchFamily="34" charset="-120"/>
              </a:rPr>
              <a:t>Boston University  |  Metropolitan College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Agenda</a:t>
            </a:r>
            <a:endParaRPr lang="en-US" sz="2800" dirty="0"/>
          </a:p>
        </p:txBody>
      </p:sp>
      <p:sp>
        <p:nvSpPr>
          <p:cNvPr id="3" name="Shape 1"/>
          <p:cNvSpPr/>
          <p:nvPr/>
        </p:nvSpPr>
        <p:spPr>
          <a:xfrm>
            <a:off x="548640" y="868680"/>
            <a:ext cx="1188720" cy="36576"/>
          </a:xfrm>
          <a:prstGeom prst="rect">
            <a:avLst/>
          </a:prstGeom>
          <a:solidFill>
            <a:srgbClr val="E85D04"/>
          </a:solidFill>
          <a:ln/>
        </p:spPr>
        <p:txBody>
          <a:bodyPr/>
          <a:lstStyle/>
          <a:p>
            <a:endParaRPr lang="en-US"/>
          </a:p>
        </p:txBody>
      </p:sp>
      <p:sp>
        <p:nvSpPr>
          <p:cNvPr id="4" name="Text 2"/>
          <p:cNvSpPr/>
          <p:nvPr/>
        </p:nvSpPr>
        <p:spPr>
          <a:xfrm>
            <a:off x="548640" y="914400"/>
            <a:ext cx="8046720" cy="320040"/>
          </a:xfrm>
          <a:prstGeom prst="rect">
            <a:avLst/>
          </a:prstGeom>
          <a:noFill/>
          <a:ln/>
        </p:spPr>
        <p:txBody>
          <a:bodyPr wrap="square" rtlCol="0" anchor="ctr"/>
          <a:lstStyle/>
          <a:p>
            <a:pPr marL="0" indent="0">
              <a:buNone/>
            </a:pPr>
            <a:r>
              <a:rPr lang="en-US" sz="1300" i="1" dirty="0">
                <a:solidFill>
                  <a:srgbClr val="777777"/>
                </a:solidFill>
                <a:latin typeface="Calibri" pitchFamily="34" charset="0"/>
                <a:ea typeface="Calibri" pitchFamily="34" charset="-122"/>
                <a:cs typeface="Calibri" pitchFamily="34" charset="-120"/>
              </a:rPr>
              <a:t>10-minute presentation  |  Two presenters</a:t>
            </a:r>
            <a:endParaRPr lang="en-US" sz="1300" dirty="0"/>
          </a:p>
        </p:txBody>
      </p:sp>
      <p:sp>
        <p:nvSpPr>
          <p:cNvPr id="5" name="Shape 3"/>
          <p:cNvSpPr/>
          <p:nvPr/>
        </p:nvSpPr>
        <p:spPr>
          <a:xfrm>
            <a:off x="548640" y="1371600"/>
            <a:ext cx="3749040" cy="3291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548640" y="1371600"/>
            <a:ext cx="3749040" cy="457200"/>
          </a:xfrm>
          <a:prstGeom prst="rect">
            <a:avLst/>
          </a:prstGeom>
          <a:solidFill>
            <a:srgbClr val="1E2761"/>
          </a:solidFill>
          <a:ln/>
        </p:spPr>
        <p:txBody>
          <a:bodyPr/>
          <a:lstStyle/>
          <a:p>
            <a:endParaRPr lang="en-US"/>
          </a:p>
        </p:txBody>
      </p:sp>
      <p:sp>
        <p:nvSpPr>
          <p:cNvPr id="7" name="Text 5"/>
          <p:cNvSpPr/>
          <p:nvPr/>
        </p:nvSpPr>
        <p:spPr>
          <a:xfrm>
            <a:off x="731520" y="1371600"/>
            <a:ext cx="356616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Presenter 1: Ho Man Cheng (~5 min)</a:t>
            </a:r>
            <a:endParaRPr lang="en-US" sz="1200" dirty="0"/>
          </a:p>
        </p:txBody>
      </p:sp>
      <p:sp>
        <p:nvSpPr>
          <p:cNvPr id="8" name="Text 6"/>
          <p:cNvSpPr/>
          <p:nvPr/>
        </p:nvSpPr>
        <p:spPr>
          <a:xfrm>
            <a:off x="822960" y="2011680"/>
            <a:ext cx="3291840" cy="2468880"/>
          </a:xfrm>
          <a:prstGeom prst="rect">
            <a:avLst/>
          </a:prstGeom>
          <a:noFill/>
          <a:ln/>
        </p:spPr>
        <p:txBody>
          <a:bodyPr wrap="square" rtlCol="0" anchor="ctr"/>
          <a:lstStyle/>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1. Problem &amp; Dataset</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2. Tools &amp; Algorithms</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3. Preprocessing Pipeline</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4. Class Imbalance</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5. Balancing Methods</a:t>
            </a:r>
            <a:endParaRPr lang="en-US" sz="1400" dirty="0"/>
          </a:p>
        </p:txBody>
      </p:sp>
      <p:sp>
        <p:nvSpPr>
          <p:cNvPr id="9" name="Shape 7"/>
          <p:cNvSpPr/>
          <p:nvPr/>
        </p:nvSpPr>
        <p:spPr>
          <a:xfrm>
            <a:off x="4846320" y="1371600"/>
            <a:ext cx="3749040" cy="3291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4846320" y="1371600"/>
            <a:ext cx="3749040" cy="457200"/>
          </a:xfrm>
          <a:prstGeom prst="rect">
            <a:avLst/>
          </a:prstGeom>
          <a:solidFill>
            <a:srgbClr val="408EC6"/>
          </a:solidFill>
          <a:ln/>
        </p:spPr>
        <p:txBody>
          <a:bodyPr/>
          <a:lstStyle/>
          <a:p>
            <a:endParaRPr lang="en-US"/>
          </a:p>
        </p:txBody>
      </p:sp>
      <p:sp>
        <p:nvSpPr>
          <p:cNvPr id="11" name="Text 9"/>
          <p:cNvSpPr/>
          <p:nvPr/>
        </p:nvSpPr>
        <p:spPr>
          <a:xfrm>
            <a:off x="5029200" y="1371600"/>
            <a:ext cx="356616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Presenter 2: Weitao Peng (~5 min)</a:t>
            </a:r>
            <a:endParaRPr lang="en-US" sz="1200" dirty="0"/>
          </a:p>
        </p:txBody>
      </p:sp>
      <p:sp>
        <p:nvSpPr>
          <p:cNvPr id="12" name="Text 10"/>
          <p:cNvSpPr/>
          <p:nvPr/>
        </p:nvSpPr>
        <p:spPr>
          <a:xfrm>
            <a:off x="5120640" y="2011680"/>
            <a:ext cx="3291840" cy="2468880"/>
          </a:xfrm>
          <a:prstGeom prst="rect">
            <a:avLst/>
          </a:prstGeom>
          <a:noFill/>
          <a:ln/>
        </p:spPr>
        <p:txBody>
          <a:bodyPr wrap="square" rtlCol="0" anchor="ctr"/>
          <a:lstStyle/>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6. Evaluation Methodology</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7. Results Overview</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8. Best Model Identified</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9. Key Findings</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10. Conclusion &amp; Q&amp;A</a:t>
            </a:r>
            <a:endParaRPr lang="en-US" sz="1400" dirty="0"/>
          </a:p>
        </p:txBody>
      </p:sp>
      <p:sp>
        <p:nvSpPr>
          <p:cNvPr id="13" name="Text 11"/>
          <p:cNvSpPr/>
          <p:nvPr/>
        </p:nvSpPr>
        <p:spPr>
          <a:xfrm>
            <a:off x="548640" y="4800600"/>
            <a:ext cx="8046720" cy="274320"/>
          </a:xfrm>
          <a:prstGeom prst="rect">
            <a:avLst/>
          </a:prstGeom>
          <a:noFill/>
          <a:ln/>
        </p:spPr>
        <p:txBody>
          <a:bodyPr wrap="square" rtlCol="0" anchor="ctr"/>
          <a:lstStyle/>
          <a:p>
            <a:pPr marL="0" indent="0" algn="r">
              <a:buNone/>
            </a:pPr>
            <a:r>
              <a:rPr lang="en-US" sz="900" dirty="0">
                <a:solidFill>
                  <a:srgbClr val="777777"/>
                </a:solidFill>
                <a:latin typeface="Calibri" pitchFamily="34" charset="0"/>
                <a:ea typeface="Calibri" pitchFamily="34" charset="-122"/>
                <a:cs typeface="Calibri" pitchFamily="34" charset="-120"/>
              </a:rPr>
              <a:t>Both  |  Slide 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Problem Statement &amp; Dataset</a:t>
            </a:r>
            <a:endParaRPr lang="en-US" sz="2800" dirty="0"/>
          </a:p>
        </p:txBody>
      </p:sp>
      <p:sp>
        <p:nvSpPr>
          <p:cNvPr id="3" name="Shape 1"/>
          <p:cNvSpPr/>
          <p:nvPr/>
        </p:nvSpPr>
        <p:spPr>
          <a:xfrm>
            <a:off x="548640" y="868680"/>
            <a:ext cx="1188720" cy="36576"/>
          </a:xfrm>
          <a:prstGeom prst="rect">
            <a:avLst/>
          </a:prstGeom>
          <a:solidFill>
            <a:srgbClr val="E85D04"/>
          </a:solidFill>
          <a:ln/>
        </p:spPr>
        <p:txBody>
          <a:bodyPr/>
          <a:lstStyle/>
          <a:p>
            <a:endParaRPr lang="en-US"/>
          </a:p>
        </p:txBody>
      </p:sp>
      <p:sp>
        <p:nvSpPr>
          <p:cNvPr id="4" name="Text 2"/>
          <p:cNvSpPr/>
          <p:nvPr/>
        </p:nvSpPr>
        <p:spPr>
          <a:xfrm>
            <a:off x="548640" y="914400"/>
            <a:ext cx="8046720" cy="320040"/>
          </a:xfrm>
          <a:prstGeom prst="rect">
            <a:avLst/>
          </a:prstGeom>
          <a:noFill/>
          <a:ln/>
        </p:spPr>
        <p:txBody>
          <a:bodyPr wrap="square" rtlCol="0" anchor="ctr"/>
          <a:lstStyle/>
          <a:p>
            <a:pPr marL="0" indent="0">
              <a:buNone/>
            </a:pPr>
            <a:r>
              <a:rPr lang="en-US" sz="1300" i="1" dirty="0">
                <a:solidFill>
                  <a:srgbClr val="777777"/>
                </a:solidFill>
                <a:latin typeface="Calibri" pitchFamily="34" charset="0"/>
                <a:ea typeface="Calibri" pitchFamily="34" charset="-122"/>
                <a:cs typeface="Calibri" pitchFamily="34" charset="-120"/>
              </a:rPr>
              <a:t>Binary classification on the 2023 American Housing Survey</a:t>
            </a:r>
            <a:endParaRPr lang="en-US" sz="1300" dirty="0"/>
          </a:p>
        </p:txBody>
      </p:sp>
      <p:sp>
        <p:nvSpPr>
          <p:cNvPr id="5" name="Shape 3"/>
          <p:cNvSpPr/>
          <p:nvPr/>
        </p:nvSpPr>
        <p:spPr>
          <a:xfrm>
            <a:off x="548640" y="1371600"/>
            <a:ext cx="3931920" cy="3200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Text 4"/>
          <p:cNvSpPr/>
          <p:nvPr/>
        </p:nvSpPr>
        <p:spPr>
          <a:xfrm>
            <a:off x="731520" y="1463040"/>
            <a:ext cx="365760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Objective</a:t>
            </a:r>
            <a:endParaRPr lang="en-US" sz="1600" dirty="0"/>
          </a:p>
        </p:txBody>
      </p:sp>
      <p:sp>
        <p:nvSpPr>
          <p:cNvPr id="7" name="Text 5"/>
          <p:cNvSpPr/>
          <p:nvPr/>
        </p:nvSpPr>
        <p:spPr>
          <a:xfrm>
            <a:off x="731520" y="1874520"/>
            <a:ext cx="3657600" cy="2560320"/>
          </a:xfrm>
          <a:prstGeom prst="rect">
            <a:avLst/>
          </a:prstGeom>
          <a:noFill/>
          <a:ln/>
        </p:spPr>
        <p:txBody>
          <a:bodyPr wrap="square" rtlCol="0" anchor="ctr"/>
          <a:lstStyle/>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Predict whether a U.S. household contains a member with a disability (Class = Yes / No).</a:t>
            </a:r>
            <a:endParaRPr lang="en-US" sz="1300" dirty="0"/>
          </a:p>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Policy value: targeted resources, accessible housing planning, social services.</a:t>
            </a:r>
            <a:endParaRPr lang="en-US" sz="1300" dirty="0"/>
          </a:p>
          <a:p>
            <a:pPr marL="342900" indent="-342900">
              <a:spcAft>
                <a:spcPts val="600"/>
              </a:spcAft>
              <a:buSzPct val="100000"/>
              <a:buChar char="•"/>
            </a:pPr>
            <a:r>
              <a:rPr lang="en-US" sz="1300" dirty="0">
                <a:solidFill>
                  <a:srgbClr val="333333"/>
                </a:solidFill>
                <a:latin typeface="Calibri" pitchFamily="34" charset="0"/>
                <a:ea typeface="Calibri" pitchFamily="34" charset="-122"/>
                <a:cs typeface="Calibri" pitchFamily="34" charset="-120"/>
              </a:rPr>
              <a:t>Technical goal: compare 36 model configurations to find the strongest classifier.</a:t>
            </a:r>
            <a:endParaRPr lang="en-US" sz="1300" dirty="0"/>
          </a:p>
        </p:txBody>
      </p:sp>
      <p:sp>
        <p:nvSpPr>
          <p:cNvPr id="8" name="Shape 6"/>
          <p:cNvSpPr/>
          <p:nvPr/>
        </p:nvSpPr>
        <p:spPr>
          <a:xfrm>
            <a:off x="4663440" y="1371600"/>
            <a:ext cx="3931920" cy="3200400"/>
          </a:xfrm>
          <a:prstGeom prst="rect">
            <a:avLst/>
          </a:prstGeom>
          <a:solidFill>
            <a:srgbClr val="1E2761"/>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4846320" y="1463040"/>
            <a:ext cx="36576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Dataset Snapshot</a:t>
            </a:r>
            <a:endParaRPr lang="en-US" sz="1600" dirty="0"/>
          </a:p>
        </p:txBody>
      </p:sp>
      <p:sp>
        <p:nvSpPr>
          <p:cNvPr id="10" name="Text 8"/>
          <p:cNvSpPr/>
          <p:nvPr/>
        </p:nvSpPr>
        <p:spPr>
          <a:xfrm>
            <a:off x="4846320" y="1874520"/>
            <a:ext cx="3657600" cy="2560320"/>
          </a:xfrm>
          <a:prstGeom prst="rect">
            <a:avLst/>
          </a:prstGeom>
          <a:noFill/>
          <a:ln/>
        </p:spPr>
        <p:txBody>
          <a:bodyPr wrap="square" rtlCol="0" anchor="ctr"/>
          <a:lstStyle/>
          <a:p>
            <a:pPr marL="342900" indent="-342900">
              <a:spcAft>
                <a:spcPts val="600"/>
              </a:spcAft>
              <a:buSzPct val="100000"/>
              <a:buChar char="•"/>
            </a:pPr>
            <a:r>
              <a:rPr lang="en-US" sz="1300" dirty="0">
                <a:solidFill>
                  <a:srgbClr val="EEEEEE"/>
                </a:solidFill>
                <a:latin typeface="Calibri" pitchFamily="34" charset="0"/>
                <a:ea typeface="Calibri" pitchFamily="34" charset="-122"/>
                <a:cs typeface="Calibri" pitchFamily="34" charset="-120"/>
              </a:rPr>
              <a:t>Source: U.S. Census Bureau AHS 2023</a:t>
            </a:r>
            <a:endParaRPr lang="en-US" sz="1300" dirty="0"/>
          </a:p>
          <a:p>
            <a:pPr marL="342900" indent="-342900">
              <a:spcAft>
                <a:spcPts val="600"/>
              </a:spcAft>
              <a:buSzPct val="100000"/>
              <a:buChar char="•"/>
            </a:pPr>
            <a:r>
              <a:rPr lang="en-US" sz="1300" dirty="0">
                <a:solidFill>
                  <a:srgbClr val="EEEEEE"/>
                </a:solidFill>
                <a:latin typeface="Calibri" pitchFamily="34" charset="0"/>
                <a:ea typeface="Calibri" pitchFamily="34" charset="-122"/>
                <a:cs typeface="Calibri" pitchFamily="34" charset="-120"/>
              </a:rPr>
              <a:t>Rows: 12,045 households</a:t>
            </a:r>
            <a:endParaRPr lang="en-US" sz="1300" dirty="0"/>
          </a:p>
          <a:p>
            <a:pPr marL="342900" indent="-342900">
              <a:spcAft>
                <a:spcPts val="600"/>
              </a:spcAft>
              <a:buSzPct val="100000"/>
              <a:buChar char="•"/>
            </a:pPr>
            <a:r>
              <a:rPr lang="en-US" sz="1300" dirty="0">
                <a:solidFill>
                  <a:srgbClr val="EEEEEE"/>
                </a:solidFill>
                <a:latin typeface="Calibri" pitchFamily="34" charset="0"/>
                <a:ea typeface="Calibri" pitchFamily="34" charset="-122"/>
                <a:cs typeface="Calibri" pitchFamily="34" charset="-120"/>
              </a:rPr>
              <a:t>Features (after preprocessing): 118</a:t>
            </a:r>
            <a:endParaRPr lang="en-US" sz="1300" dirty="0"/>
          </a:p>
          <a:p>
            <a:pPr marL="342900" indent="-342900">
              <a:spcAft>
                <a:spcPts val="600"/>
              </a:spcAft>
              <a:buSzPct val="100000"/>
              <a:buChar char="•"/>
            </a:pPr>
            <a:r>
              <a:rPr lang="en-US" sz="1300" dirty="0">
                <a:solidFill>
                  <a:srgbClr val="EEEEEE"/>
                </a:solidFill>
                <a:latin typeface="Calibri" pitchFamily="34" charset="0"/>
                <a:ea typeface="Calibri" pitchFamily="34" charset="-122"/>
                <a:cs typeface="Calibri" pitchFamily="34" charset="-120"/>
              </a:rPr>
              <a:t>Class distribution: 30.4% Yes / 69.6% No</a:t>
            </a:r>
            <a:endParaRPr lang="en-US" sz="1300" dirty="0"/>
          </a:p>
          <a:p>
            <a:pPr marL="342900" indent="-342900">
              <a:spcAft>
                <a:spcPts val="600"/>
              </a:spcAft>
              <a:buSzPct val="100000"/>
              <a:buChar char="•"/>
            </a:pPr>
            <a:r>
              <a:rPr lang="en-US" sz="1300" dirty="0">
                <a:solidFill>
                  <a:srgbClr val="EEEEEE"/>
                </a:solidFill>
                <a:latin typeface="Calibri" pitchFamily="34" charset="0"/>
                <a:ea typeface="Calibri" pitchFamily="34" charset="-122"/>
                <a:cs typeface="Calibri" pitchFamily="34" charset="-120"/>
              </a:rPr>
              <a:t>Train / Test split: 80% / 20% stratified</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marL="0" indent="0" algn="r">
              <a:buNone/>
            </a:pPr>
            <a:r>
              <a:rPr lang="en-US" sz="900" dirty="0">
                <a:solidFill>
                  <a:srgbClr val="777777"/>
                </a:solidFill>
                <a:latin typeface="Calibri" pitchFamily="34" charset="0"/>
                <a:ea typeface="Calibri" pitchFamily="34" charset="-122"/>
                <a:cs typeface="Calibri" pitchFamily="34" charset="-120"/>
              </a:rPr>
              <a:t>Ho Man Cheng  |  Slide 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Tools &amp; Classification Algorithms</a:t>
            </a:r>
            <a:endParaRPr lang="en-US" sz="2800" dirty="0"/>
          </a:p>
        </p:txBody>
      </p:sp>
      <p:sp>
        <p:nvSpPr>
          <p:cNvPr id="3" name="Shape 1"/>
          <p:cNvSpPr/>
          <p:nvPr/>
        </p:nvSpPr>
        <p:spPr>
          <a:xfrm>
            <a:off x="548640" y="868680"/>
            <a:ext cx="1188720" cy="36576"/>
          </a:xfrm>
          <a:prstGeom prst="rect">
            <a:avLst/>
          </a:prstGeom>
          <a:solidFill>
            <a:srgbClr val="E85D04"/>
          </a:solidFill>
          <a:ln/>
        </p:spPr>
        <p:txBody>
          <a:bodyPr/>
          <a:lstStyle/>
          <a:p>
            <a:endParaRPr lang="en-US"/>
          </a:p>
        </p:txBody>
      </p:sp>
      <p:sp>
        <p:nvSpPr>
          <p:cNvPr id="4" name="Text 2"/>
          <p:cNvSpPr/>
          <p:nvPr/>
        </p:nvSpPr>
        <p:spPr>
          <a:xfrm>
            <a:off x="548640" y="914400"/>
            <a:ext cx="8046720" cy="320040"/>
          </a:xfrm>
          <a:prstGeom prst="rect">
            <a:avLst/>
          </a:prstGeom>
          <a:noFill/>
          <a:ln/>
        </p:spPr>
        <p:txBody>
          <a:bodyPr wrap="square" rtlCol="0" anchor="ctr"/>
          <a:lstStyle/>
          <a:p>
            <a:pPr marL="0" indent="0">
              <a:buNone/>
            </a:pPr>
            <a:r>
              <a:rPr lang="en-US" sz="1300" i="1" dirty="0">
                <a:solidFill>
                  <a:srgbClr val="777777"/>
                </a:solidFill>
                <a:latin typeface="Calibri" pitchFamily="34" charset="0"/>
                <a:ea typeface="Calibri" pitchFamily="34" charset="-122"/>
                <a:cs typeface="Calibri" pitchFamily="34" charset="-120"/>
              </a:rPr>
              <a:t>R 4.5.2  |  12 packages  |  9 algorithms × 4 balancing = 36 models</a:t>
            </a:r>
            <a:endParaRPr lang="en-US" sz="1300" dirty="0"/>
          </a:p>
        </p:txBody>
      </p:sp>
      <p:sp>
        <p:nvSpPr>
          <p:cNvPr id="5" name="Shape 3"/>
          <p:cNvSpPr/>
          <p:nvPr/>
        </p:nvSpPr>
        <p:spPr>
          <a:xfrm>
            <a:off x="548640" y="1371600"/>
            <a:ext cx="3931920" cy="3200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Text 4"/>
          <p:cNvSpPr/>
          <p:nvPr/>
        </p:nvSpPr>
        <p:spPr>
          <a:xfrm>
            <a:off x="731520" y="1463040"/>
            <a:ext cx="365760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Core R Packages</a:t>
            </a:r>
            <a:endParaRPr lang="en-US" sz="1500" dirty="0"/>
          </a:p>
        </p:txBody>
      </p:sp>
      <p:sp>
        <p:nvSpPr>
          <p:cNvPr id="7" name="Text 5"/>
          <p:cNvSpPr/>
          <p:nvPr/>
        </p:nvSpPr>
        <p:spPr>
          <a:xfrm>
            <a:off x="731520" y="1874520"/>
            <a:ext cx="3657600" cy="2651760"/>
          </a:xfrm>
          <a:prstGeom prst="rect">
            <a:avLst/>
          </a:prstGeom>
          <a:noFill/>
          <a:ln/>
        </p:spPr>
        <p:txBody>
          <a:bodyPr wrap="square" rtlCol="0" anchor="ctr"/>
          <a:lstStyle/>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caret — unified training / tuning</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randomForest, gbm, xgboost</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e1071, kernlab — SVM</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nnet, naivebayes, rpart</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ROSE, smotefamily — balancing</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pROC — ROC/AUC analysis</a:t>
            </a:r>
            <a:endParaRPr lang="en-US" sz="1200" dirty="0"/>
          </a:p>
        </p:txBody>
      </p:sp>
      <p:sp>
        <p:nvSpPr>
          <p:cNvPr id="8" name="Shape 6"/>
          <p:cNvSpPr/>
          <p:nvPr/>
        </p:nvSpPr>
        <p:spPr>
          <a:xfrm>
            <a:off x="4663440" y="1371600"/>
            <a:ext cx="3931920" cy="3200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4846320" y="1463040"/>
            <a:ext cx="365760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9 Classification Algorithms</a:t>
            </a:r>
            <a:endParaRPr lang="en-US" sz="1500" dirty="0"/>
          </a:p>
        </p:txBody>
      </p:sp>
      <p:sp>
        <p:nvSpPr>
          <p:cNvPr id="10" name="Text 8"/>
          <p:cNvSpPr/>
          <p:nvPr/>
        </p:nvSpPr>
        <p:spPr>
          <a:xfrm>
            <a:off x="4846320" y="1874520"/>
            <a:ext cx="3657600" cy="2651760"/>
          </a:xfrm>
          <a:prstGeom prst="rect">
            <a:avLst/>
          </a:prstGeom>
          <a:noFill/>
          <a:ln/>
        </p:spPr>
        <p:txBody>
          <a:bodyPr wrap="square" rtlCol="0" anchor="ctr"/>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Logistic Regression  ·  Decision Tree</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Random Forest  ·  GBM  ·  XGBoost</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SVM (Radial)  ·  KNN</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Naive Bayes  ·  Neural Network</a:t>
            </a:r>
            <a:endParaRPr lang="en-US" sz="1200" dirty="0"/>
          </a:p>
          <a:p>
            <a:pPr marL="0" indent="0">
              <a:spcAft>
                <a:spcPts val="600"/>
              </a:spcAft>
              <a:buNone/>
            </a:pPr>
            <a:r>
              <a:rPr lang="en-US" sz="1200" i="1" dirty="0">
                <a:solidFill>
                  <a:srgbClr val="333333"/>
                </a:solidFill>
                <a:latin typeface="Calibri" pitchFamily="34" charset="0"/>
                <a:ea typeface="Calibri" pitchFamily="34" charset="-122"/>
                <a:cs typeface="Calibri" pitchFamily="34" charset="-120"/>
              </a:rPr>
              <a:t>Linear, tree-based, kernel, and neural families — full comparison across paradigms.</a:t>
            </a:r>
            <a:endParaRPr lang="en-US" sz="1200" dirty="0"/>
          </a:p>
        </p:txBody>
      </p:sp>
      <p:sp>
        <p:nvSpPr>
          <p:cNvPr id="11" name="Text 9"/>
          <p:cNvSpPr/>
          <p:nvPr/>
        </p:nvSpPr>
        <p:spPr>
          <a:xfrm>
            <a:off x="548640" y="4800600"/>
            <a:ext cx="8046720" cy="274320"/>
          </a:xfrm>
          <a:prstGeom prst="rect">
            <a:avLst/>
          </a:prstGeom>
          <a:noFill/>
          <a:ln/>
        </p:spPr>
        <p:txBody>
          <a:bodyPr wrap="square" rtlCol="0" anchor="ctr"/>
          <a:lstStyle/>
          <a:p>
            <a:pPr marL="0" indent="0" algn="r">
              <a:buNone/>
            </a:pPr>
            <a:r>
              <a:rPr lang="en-US" sz="900" dirty="0">
                <a:solidFill>
                  <a:srgbClr val="777777"/>
                </a:solidFill>
                <a:latin typeface="Calibri" pitchFamily="34" charset="0"/>
                <a:ea typeface="Calibri" pitchFamily="34" charset="-122"/>
                <a:cs typeface="Calibri" pitchFamily="34" charset="-120"/>
              </a:rPr>
              <a:t>Ho Man Cheng  |  Slide 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Preprocessing Pipeline</a:t>
            </a:r>
            <a:endParaRPr lang="en-US" sz="2800" dirty="0"/>
          </a:p>
        </p:txBody>
      </p:sp>
      <p:sp>
        <p:nvSpPr>
          <p:cNvPr id="3" name="Shape 1"/>
          <p:cNvSpPr/>
          <p:nvPr/>
        </p:nvSpPr>
        <p:spPr>
          <a:xfrm>
            <a:off x="548640" y="868680"/>
            <a:ext cx="1188720" cy="36576"/>
          </a:xfrm>
          <a:prstGeom prst="rect">
            <a:avLst/>
          </a:prstGeom>
          <a:solidFill>
            <a:srgbClr val="E85D04"/>
          </a:solidFill>
          <a:ln/>
        </p:spPr>
        <p:txBody>
          <a:bodyPr/>
          <a:lstStyle/>
          <a:p>
            <a:endParaRPr lang="en-US"/>
          </a:p>
        </p:txBody>
      </p:sp>
      <p:sp>
        <p:nvSpPr>
          <p:cNvPr id="4" name="Text 2"/>
          <p:cNvSpPr/>
          <p:nvPr/>
        </p:nvSpPr>
        <p:spPr>
          <a:xfrm>
            <a:off x="548640" y="914400"/>
            <a:ext cx="8046720" cy="320040"/>
          </a:xfrm>
          <a:prstGeom prst="rect">
            <a:avLst/>
          </a:prstGeom>
          <a:noFill/>
          <a:ln/>
        </p:spPr>
        <p:txBody>
          <a:bodyPr wrap="square" rtlCol="0" anchor="ctr"/>
          <a:lstStyle/>
          <a:p>
            <a:pPr marL="0" indent="0">
              <a:buNone/>
            </a:pPr>
            <a:r>
              <a:rPr lang="en-US" sz="1300" i="1" dirty="0">
                <a:solidFill>
                  <a:srgbClr val="777777"/>
                </a:solidFill>
                <a:latin typeface="Calibri" pitchFamily="34" charset="0"/>
                <a:ea typeface="Calibri" pitchFamily="34" charset="-122"/>
                <a:cs typeface="Calibri" pitchFamily="34" charset="-120"/>
              </a:rPr>
              <a:t>From raw AHS CSV → 118 clean, scaled features</a:t>
            </a:r>
            <a:endParaRPr lang="en-US" sz="1300" dirty="0"/>
          </a:p>
        </p:txBody>
      </p:sp>
      <p:sp>
        <p:nvSpPr>
          <p:cNvPr id="5" name="Shape 3"/>
          <p:cNvSpPr/>
          <p:nvPr/>
        </p:nvSpPr>
        <p:spPr>
          <a:xfrm>
            <a:off x="365760" y="1463040"/>
            <a:ext cx="1207008" cy="457200"/>
          </a:xfrm>
          <a:prstGeom prst="rect">
            <a:avLst/>
          </a:prstGeom>
          <a:solidFill>
            <a:srgbClr val="1E2761"/>
          </a:solidFill>
          <a:ln/>
        </p:spPr>
        <p:txBody>
          <a:bodyPr/>
          <a:lstStyle/>
          <a:p>
            <a:endParaRPr lang="en-US"/>
          </a:p>
        </p:txBody>
      </p:sp>
      <p:sp>
        <p:nvSpPr>
          <p:cNvPr id="6" name="Text 4"/>
          <p:cNvSpPr/>
          <p:nvPr/>
        </p:nvSpPr>
        <p:spPr>
          <a:xfrm>
            <a:off x="365760" y="1463040"/>
            <a:ext cx="1207008" cy="457200"/>
          </a:xfrm>
          <a:prstGeom prst="rect">
            <a:avLst/>
          </a:prstGeom>
          <a:noFill/>
          <a:ln/>
        </p:spPr>
        <p:txBody>
          <a:bodyPr wrap="square" rtlCol="0" anchor="ctr"/>
          <a:lstStyle/>
          <a:p>
            <a:pPr marL="0" indent="0" algn="ctr">
              <a:buNone/>
            </a:pPr>
            <a:r>
              <a:rPr lang="en-US" sz="1800" b="1" dirty="0">
                <a:solidFill>
                  <a:srgbClr val="E85D04"/>
                </a:solidFill>
                <a:latin typeface="Georgia" pitchFamily="34" charset="0"/>
                <a:ea typeface="Georgia" pitchFamily="34" charset="-122"/>
                <a:cs typeface="Georgia" pitchFamily="34" charset="-120"/>
              </a:rPr>
              <a:t>1</a:t>
            </a:r>
            <a:endParaRPr lang="en-US" sz="1800" dirty="0"/>
          </a:p>
        </p:txBody>
      </p:sp>
      <p:sp>
        <p:nvSpPr>
          <p:cNvPr id="7" name="Shape 5"/>
          <p:cNvSpPr/>
          <p:nvPr/>
        </p:nvSpPr>
        <p:spPr>
          <a:xfrm>
            <a:off x="365760" y="1920240"/>
            <a:ext cx="1207008"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8" name="Text 6"/>
          <p:cNvSpPr/>
          <p:nvPr/>
        </p:nvSpPr>
        <p:spPr>
          <a:xfrm>
            <a:off x="411480" y="2011680"/>
            <a:ext cx="1115568" cy="640080"/>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Remove Class NAs</a:t>
            </a:r>
            <a:endParaRPr lang="en-US" sz="1000" dirty="0"/>
          </a:p>
        </p:txBody>
      </p:sp>
      <p:sp>
        <p:nvSpPr>
          <p:cNvPr id="9" name="Text 7"/>
          <p:cNvSpPr/>
          <p:nvPr/>
        </p:nvSpPr>
        <p:spPr>
          <a:xfrm>
            <a:off x="411480" y="2651760"/>
            <a:ext cx="1115568" cy="822960"/>
          </a:xfrm>
          <a:prstGeom prst="rect">
            <a:avLst/>
          </a:prstGeom>
          <a:noFill/>
          <a:ln/>
        </p:spPr>
        <p:txBody>
          <a:bodyPr wrap="square" rtlCol="0" anchor="ctr"/>
          <a:lstStyle/>
          <a:p>
            <a:pPr marL="0" indent="0" algn="ctr">
              <a:buNone/>
            </a:pPr>
            <a:r>
              <a:rPr lang="en-US" sz="900" dirty="0">
                <a:solidFill>
                  <a:srgbClr val="333333"/>
                </a:solidFill>
                <a:latin typeface="Calibri" pitchFamily="34" charset="0"/>
                <a:ea typeface="Calibri" pitchFamily="34" charset="-122"/>
                <a:cs typeface="Calibri" pitchFamily="34" charset="-120"/>
              </a:rPr>
              <a:t>Drop rows missing the target label</a:t>
            </a:r>
            <a:endParaRPr lang="en-US" sz="900" dirty="0"/>
          </a:p>
        </p:txBody>
      </p:sp>
      <p:sp>
        <p:nvSpPr>
          <p:cNvPr id="10" name="Shape 8"/>
          <p:cNvSpPr/>
          <p:nvPr/>
        </p:nvSpPr>
        <p:spPr>
          <a:xfrm>
            <a:off x="1618488" y="1463040"/>
            <a:ext cx="1207008" cy="457200"/>
          </a:xfrm>
          <a:prstGeom prst="rect">
            <a:avLst/>
          </a:prstGeom>
          <a:solidFill>
            <a:srgbClr val="1E2761"/>
          </a:solidFill>
          <a:ln/>
        </p:spPr>
        <p:txBody>
          <a:bodyPr/>
          <a:lstStyle/>
          <a:p>
            <a:endParaRPr lang="en-US"/>
          </a:p>
        </p:txBody>
      </p:sp>
      <p:sp>
        <p:nvSpPr>
          <p:cNvPr id="11" name="Text 9"/>
          <p:cNvSpPr/>
          <p:nvPr/>
        </p:nvSpPr>
        <p:spPr>
          <a:xfrm>
            <a:off x="1618488" y="1463040"/>
            <a:ext cx="1207008" cy="457200"/>
          </a:xfrm>
          <a:prstGeom prst="rect">
            <a:avLst/>
          </a:prstGeom>
          <a:noFill/>
          <a:ln/>
        </p:spPr>
        <p:txBody>
          <a:bodyPr wrap="square" rtlCol="0" anchor="ctr"/>
          <a:lstStyle/>
          <a:p>
            <a:pPr marL="0" indent="0" algn="ctr">
              <a:buNone/>
            </a:pPr>
            <a:r>
              <a:rPr lang="en-US" sz="1800" b="1" dirty="0">
                <a:solidFill>
                  <a:srgbClr val="E85D04"/>
                </a:solidFill>
                <a:latin typeface="Georgia" pitchFamily="34" charset="0"/>
                <a:ea typeface="Georgia" pitchFamily="34" charset="-122"/>
                <a:cs typeface="Georgia" pitchFamily="34" charset="-120"/>
              </a:rPr>
              <a:t>2</a:t>
            </a:r>
            <a:endParaRPr lang="en-US" sz="1800" dirty="0"/>
          </a:p>
        </p:txBody>
      </p:sp>
      <p:sp>
        <p:nvSpPr>
          <p:cNvPr id="12" name="Shape 10"/>
          <p:cNvSpPr/>
          <p:nvPr/>
        </p:nvSpPr>
        <p:spPr>
          <a:xfrm>
            <a:off x="1618488" y="1920240"/>
            <a:ext cx="1207008"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1664208" y="2011680"/>
            <a:ext cx="1115568" cy="640080"/>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Drop CONTROL</a:t>
            </a:r>
            <a:endParaRPr lang="en-US" sz="1000" dirty="0"/>
          </a:p>
        </p:txBody>
      </p:sp>
      <p:sp>
        <p:nvSpPr>
          <p:cNvPr id="14" name="Text 12"/>
          <p:cNvSpPr/>
          <p:nvPr/>
        </p:nvSpPr>
        <p:spPr>
          <a:xfrm>
            <a:off x="1664208" y="2651760"/>
            <a:ext cx="1115568" cy="822960"/>
          </a:xfrm>
          <a:prstGeom prst="rect">
            <a:avLst/>
          </a:prstGeom>
          <a:noFill/>
          <a:ln/>
        </p:spPr>
        <p:txBody>
          <a:bodyPr wrap="square" rtlCol="0" anchor="ctr"/>
          <a:lstStyle/>
          <a:p>
            <a:pPr marL="0" indent="0" algn="ctr">
              <a:buNone/>
            </a:pPr>
            <a:r>
              <a:rPr lang="en-US" sz="900" dirty="0">
                <a:solidFill>
                  <a:srgbClr val="333333"/>
                </a:solidFill>
                <a:latin typeface="Calibri" pitchFamily="34" charset="0"/>
                <a:ea typeface="Calibri" pitchFamily="34" charset="-122"/>
                <a:cs typeface="Calibri" pitchFamily="34" charset="-120"/>
              </a:rPr>
              <a:t>Identifier with zero predictive value</a:t>
            </a:r>
            <a:endParaRPr lang="en-US" sz="900" dirty="0"/>
          </a:p>
        </p:txBody>
      </p:sp>
      <p:sp>
        <p:nvSpPr>
          <p:cNvPr id="15" name="Shape 13"/>
          <p:cNvSpPr/>
          <p:nvPr/>
        </p:nvSpPr>
        <p:spPr>
          <a:xfrm>
            <a:off x="2871216" y="1463040"/>
            <a:ext cx="1207008" cy="457200"/>
          </a:xfrm>
          <a:prstGeom prst="rect">
            <a:avLst/>
          </a:prstGeom>
          <a:solidFill>
            <a:srgbClr val="1E2761"/>
          </a:solidFill>
          <a:ln/>
        </p:spPr>
        <p:txBody>
          <a:bodyPr/>
          <a:lstStyle/>
          <a:p>
            <a:endParaRPr lang="en-US"/>
          </a:p>
        </p:txBody>
      </p:sp>
      <p:sp>
        <p:nvSpPr>
          <p:cNvPr id="16" name="Text 14"/>
          <p:cNvSpPr/>
          <p:nvPr/>
        </p:nvSpPr>
        <p:spPr>
          <a:xfrm>
            <a:off x="2871216" y="1463040"/>
            <a:ext cx="1207008" cy="457200"/>
          </a:xfrm>
          <a:prstGeom prst="rect">
            <a:avLst/>
          </a:prstGeom>
          <a:noFill/>
          <a:ln/>
        </p:spPr>
        <p:txBody>
          <a:bodyPr wrap="square" rtlCol="0" anchor="ctr"/>
          <a:lstStyle/>
          <a:p>
            <a:pPr marL="0" indent="0" algn="ctr">
              <a:buNone/>
            </a:pPr>
            <a:r>
              <a:rPr lang="en-US" sz="1800" b="1" dirty="0">
                <a:solidFill>
                  <a:srgbClr val="E85D04"/>
                </a:solidFill>
                <a:latin typeface="Georgia" pitchFamily="34" charset="0"/>
                <a:ea typeface="Georgia" pitchFamily="34" charset="-122"/>
                <a:cs typeface="Georgia" pitchFamily="34" charset="-120"/>
              </a:rPr>
              <a:t>3</a:t>
            </a:r>
            <a:endParaRPr lang="en-US" sz="1800" dirty="0"/>
          </a:p>
        </p:txBody>
      </p:sp>
      <p:sp>
        <p:nvSpPr>
          <p:cNvPr id="17" name="Shape 15"/>
          <p:cNvSpPr/>
          <p:nvPr/>
        </p:nvSpPr>
        <p:spPr>
          <a:xfrm>
            <a:off x="2871216" y="1920240"/>
            <a:ext cx="1207008"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8" name="Text 16"/>
          <p:cNvSpPr/>
          <p:nvPr/>
        </p:nvSpPr>
        <p:spPr>
          <a:xfrm>
            <a:off x="2916936" y="2011680"/>
            <a:ext cx="1115568" cy="640080"/>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Numeric Conversion</a:t>
            </a:r>
            <a:endParaRPr lang="en-US" sz="1000" dirty="0"/>
          </a:p>
        </p:txBody>
      </p:sp>
      <p:sp>
        <p:nvSpPr>
          <p:cNvPr id="19" name="Text 17"/>
          <p:cNvSpPr/>
          <p:nvPr/>
        </p:nvSpPr>
        <p:spPr>
          <a:xfrm>
            <a:off x="2916936" y="2651760"/>
            <a:ext cx="1115568" cy="822960"/>
          </a:xfrm>
          <a:prstGeom prst="rect">
            <a:avLst/>
          </a:prstGeom>
          <a:noFill/>
          <a:ln/>
        </p:spPr>
        <p:txBody>
          <a:bodyPr wrap="square" rtlCol="0" anchor="ctr"/>
          <a:lstStyle/>
          <a:p>
            <a:pPr marL="0" indent="0" algn="ctr">
              <a:buNone/>
            </a:pPr>
            <a:r>
              <a:rPr lang="en-US" sz="900" dirty="0">
                <a:solidFill>
                  <a:srgbClr val="333333"/>
                </a:solidFill>
                <a:latin typeface="Calibri" pitchFamily="34" charset="0"/>
                <a:ea typeface="Calibri" pitchFamily="34" charset="-122"/>
                <a:cs typeface="Calibri" pitchFamily="34" charset="-120"/>
              </a:rPr>
              <a:t>Factor codes → numeric for models</a:t>
            </a:r>
            <a:endParaRPr lang="en-US" sz="900" dirty="0"/>
          </a:p>
        </p:txBody>
      </p:sp>
      <p:sp>
        <p:nvSpPr>
          <p:cNvPr id="20" name="Shape 18"/>
          <p:cNvSpPr/>
          <p:nvPr/>
        </p:nvSpPr>
        <p:spPr>
          <a:xfrm>
            <a:off x="4123944" y="1463040"/>
            <a:ext cx="1207008" cy="457200"/>
          </a:xfrm>
          <a:prstGeom prst="rect">
            <a:avLst/>
          </a:prstGeom>
          <a:solidFill>
            <a:srgbClr val="1E2761"/>
          </a:solidFill>
          <a:ln/>
        </p:spPr>
        <p:txBody>
          <a:bodyPr/>
          <a:lstStyle/>
          <a:p>
            <a:endParaRPr lang="en-US"/>
          </a:p>
        </p:txBody>
      </p:sp>
      <p:sp>
        <p:nvSpPr>
          <p:cNvPr id="21" name="Text 19"/>
          <p:cNvSpPr/>
          <p:nvPr/>
        </p:nvSpPr>
        <p:spPr>
          <a:xfrm>
            <a:off x="4123944" y="1463040"/>
            <a:ext cx="1207008" cy="457200"/>
          </a:xfrm>
          <a:prstGeom prst="rect">
            <a:avLst/>
          </a:prstGeom>
          <a:noFill/>
          <a:ln/>
        </p:spPr>
        <p:txBody>
          <a:bodyPr wrap="square" rtlCol="0" anchor="ctr"/>
          <a:lstStyle/>
          <a:p>
            <a:pPr marL="0" indent="0" algn="ctr">
              <a:buNone/>
            </a:pPr>
            <a:r>
              <a:rPr lang="en-US" sz="1800" b="1" dirty="0">
                <a:solidFill>
                  <a:srgbClr val="E85D04"/>
                </a:solidFill>
                <a:latin typeface="Georgia" pitchFamily="34" charset="0"/>
                <a:ea typeface="Georgia" pitchFamily="34" charset="-122"/>
                <a:cs typeface="Georgia" pitchFamily="34" charset="-120"/>
              </a:rPr>
              <a:t>4</a:t>
            </a:r>
            <a:endParaRPr lang="en-US" sz="1800" dirty="0"/>
          </a:p>
        </p:txBody>
      </p:sp>
      <p:sp>
        <p:nvSpPr>
          <p:cNvPr id="22" name="Shape 20"/>
          <p:cNvSpPr/>
          <p:nvPr/>
        </p:nvSpPr>
        <p:spPr>
          <a:xfrm>
            <a:off x="4123944" y="1920240"/>
            <a:ext cx="1207008"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3" name="Text 21"/>
          <p:cNvSpPr/>
          <p:nvPr/>
        </p:nvSpPr>
        <p:spPr>
          <a:xfrm>
            <a:off x="4169664" y="2011680"/>
            <a:ext cx="1115568" cy="640080"/>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Median Imputation</a:t>
            </a:r>
            <a:endParaRPr lang="en-US" sz="1000" dirty="0"/>
          </a:p>
        </p:txBody>
      </p:sp>
      <p:sp>
        <p:nvSpPr>
          <p:cNvPr id="24" name="Text 22"/>
          <p:cNvSpPr/>
          <p:nvPr/>
        </p:nvSpPr>
        <p:spPr>
          <a:xfrm>
            <a:off x="4169664" y="2651760"/>
            <a:ext cx="1115568" cy="822960"/>
          </a:xfrm>
          <a:prstGeom prst="rect">
            <a:avLst/>
          </a:prstGeom>
          <a:noFill/>
          <a:ln/>
        </p:spPr>
        <p:txBody>
          <a:bodyPr wrap="square" rtlCol="0" anchor="ctr"/>
          <a:lstStyle/>
          <a:p>
            <a:pPr marL="0" indent="0" algn="ctr">
              <a:buNone/>
            </a:pPr>
            <a:r>
              <a:rPr lang="en-US" sz="900" dirty="0">
                <a:solidFill>
                  <a:srgbClr val="333333"/>
                </a:solidFill>
                <a:latin typeface="Calibri" pitchFamily="34" charset="0"/>
                <a:ea typeface="Calibri" pitchFamily="34" charset="-122"/>
                <a:cs typeface="Calibri" pitchFamily="34" charset="-120"/>
              </a:rPr>
              <a:t>Replace NAs with column median</a:t>
            </a:r>
            <a:endParaRPr lang="en-US" sz="900" dirty="0"/>
          </a:p>
        </p:txBody>
      </p:sp>
      <p:sp>
        <p:nvSpPr>
          <p:cNvPr id="25" name="Shape 23"/>
          <p:cNvSpPr/>
          <p:nvPr/>
        </p:nvSpPr>
        <p:spPr>
          <a:xfrm>
            <a:off x="5376672" y="1463040"/>
            <a:ext cx="1207008" cy="457200"/>
          </a:xfrm>
          <a:prstGeom prst="rect">
            <a:avLst/>
          </a:prstGeom>
          <a:solidFill>
            <a:srgbClr val="1E2761"/>
          </a:solidFill>
          <a:ln/>
        </p:spPr>
        <p:txBody>
          <a:bodyPr/>
          <a:lstStyle/>
          <a:p>
            <a:endParaRPr lang="en-US"/>
          </a:p>
        </p:txBody>
      </p:sp>
      <p:sp>
        <p:nvSpPr>
          <p:cNvPr id="26" name="Text 24"/>
          <p:cNvSpPr/>
          <p:nvPr/>
        </p:nvSpPr>
        <p:spPr>
          <a:xfrm>
            <a:off x="5376672" y="1463040"/>
            <a:ext cx="1207008" cy="457200"/>
          </a:xfrm>
          <a:prstGeom prst="rect">
            <a:avLst/>
          </a:prstGeom>
          <a:noFill/>
          <a:ln/>
        </p:spPr>
        <p:txBody>
          <a:bodyPr wrap="square" rtlCol="0" anchor="ctr"/>
          <a:lstStyle/>
          <a:p>
            <a:pPr marL="0" indent="0" algn="ctr">
              <a:buNone/>
            </a:pPr>
            <a:r>
              <a:rPr lang="en-US" sz="1800" b="1" dirty="0">
                <a:solidFill>
                  <a:srgbClr val="E85D04"/>
                </a:solidFill>
                <a:latin typeface="Georgia" pitchFamily="34" charset="0"/>
                <a:ea typeface="Georgia" pitchFamily="34" charset="-122"/>
                <a:cs typeface="Georgia" pitchFamily="34" charset="-120"/>
              </a:rPr>
              <a:t>5</a:t>
            </a:r>
            <a:endParaRPr lang="en-US" sz="1800" dirty="0"/>
          </a:p>
        </p:txBody>
      </p:sp>
      <p:sp>
        <p:nvSpPr>
          <p:cNvPr id="27" name="Shape 25"/>
          <p:cNvSpPr/>
          <p:nvPr/>
        </p:nvSpPr>
        <p:spPr>
          <a:xfrm>
            <a:off x="5376672" y="1920240"/>
            <a:ext cx="1207008"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8" name="Text 26"/>
          <p:cNvSpPr/>
          <p:nvPr/>
        </p:nvSpPr>
        <p:spPr>
          <a:xfrm>
            <a:off x="5422392" y="2011680"/>
            <a:ext cx="1115568" cy="640080"/>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Near-Zero Variance</a:t>
            </a:r>
            <a:endParaRPr lang="en-US" sz="1000" dirty="0"/>
          </a:p>
        </p:txBody>
      </p:sp>
      <p:sp>
        <p:nvSpPr>
          <p:cNvPr id="29" name="Text 27"/>
          <p:cNvSpPr/>
          <p:nvPr/>
        </p:nvSpPr>
        <p:spPr>
          <a:xfrm>
            <a:off x="5422392" y="2651760"/>
            <a:ext cx="1115568" cy="822960"/>
          </a:xfrm>
          <a:prstGeom prst="rect">
            <a:avLst/>
          </a:prstGeom>
          <a:noFill/>
          <a:ln/>
        </p:spPr>
        <p:txBody>
          <a:bodyPr wrap="square" rtlCol="0" anchor="ctr"/>
          <a:lstStyle/>
          <a:p>
            <a:pPr marL="0" indent="0" algn="ctr">
              <a:buNone/>
            </a:pPr>
            <a:r>
              <a:rPr lang="en-US" sz="900" dirty="0">
                <a:solidFill>
                  <a:srgbClr val="333333"/>
                </a:solidFill>
                <a:latin typeface="Calibri" pitchFamily="34" charset="0"/>
                <a:ea typeface="Calibri" pitchFamily="34" charset="-122"/>
                <a:cs typeface="Calibri" pitchFamily="34" charset="-120"/>
              </a:rPr>
              <a:t>Lenient filter (freqCut=99/1)</a:t>
            </a:r>
            <a:endParaRPr lang="en-US" sz="900" dirty="0"/>
          </a:p>
        </p:txBody>
      </p:sp>
      <p:sp>
        <p:nvSpPr>
          <p:cNvPr id="30" name="Shape 28"/>
          <p:cNvSpPr/>
          <p:nvPr/>
        </p:nvSpPr>
        <p:spPr>
          <a:xfrm>
            <a:off x="6629400" y="1463040"/>
            <a:ext cx="1207008" cy="457200"/>
          </a:xfrm>
          <a:prstGeom prst="rect">
            <a:avLst/>
          </a:prstGeom>
          <a:solidFill>
            <a:srgbClr val="1E2761"/>
          </a:solidFill>
          <a:ln/>
        </p:spPr>
        <p:txBody>
          <a:bodyPr/>
          <a:lstStyle/>
          <a:p>
            <a:endParaRPr lang="en-US"/>
          </a:p>
        </p:txBody>
      </p:sp>
      <p:sp>
        <p:nvSpPr>
          <p:cNvPr id="31" name="Text 29"/>
          <p:cNvSpPr/>
          <p:nvPr/>
        </p:nvSpPr>
        <p:spPr>
          <a:xfrm>
            <a:off x="6629400" y="1463040"/>
            <a:ext cx="1207008" cy="457200"/>
          </a:xfrm>
          <a:prstGeom prst="rect">
            <a:avLst/>
          </a:prstGeom>
          <a:noFill/>
          <a:ln/>
        </p:spPr>
        <p:txBody>
          <a:bodyPr wrap="square" rtlCol="0" anchor="ctr"/>
          <a:lstStyle/>
          <a:p>
            <a:pPr marL="0" indent="0" algn="ctr">
              <a:buNone/>
            </a:pPr>
            <a:r>
              <a:rPr lang="en-US" sz="1800" b="1" dirty="0">
                <a:solidFill>
                  <a:srgbClr val="E85D04"/>
                </a:solidFill>
                <a:latin typeface="Georgia" pitchFamily="34" charset="0"/>
                <a:ea typeface="Georgia" pitchFamily="34" charset="-122"/>
                <a:cs typeface="Georgia" pitchFamily="34" charset="-120"/>
              </a:rPr>
              <a:t>6</a:t>
            </a:r>
            <a:endParaRPr lang="en-US" sz="1800" dirty="0"/>
          </a:p>
        </p:txBody>
      </p:sp>
      <p:sp>
        <p:nvSpPr>
          <p:cNvPr id="32" name="Shape 30"/>
          <p:cNvSpPr/>
          <p:nvPr/>
        </p:nvSpPr>
        <p:spPr>
          <a:xfrm>
            <a:off x="6629400" y="1920240"/>
            <a:ext cx="1207008"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33" name="Text 31"/>
          <p:cNvSpPr/>
          <p:nvPr/>
        </p:nvSpPr>
        <p:spPr>
          <a:xfrm>
            <a:off x="6675120" y="2011680"/>
            <a:ext cx="1115568" cy="640080"/>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Winsorization</a:t>
            </a:r>
            <a:endParaRPr lang="en-US" sz="1000" dirty="0"/>
          </a:p>
        </p:txBody>
      </p:sp>
      <p:sp>
        <p:nvSpPr>
          <p:cNvPr id="34" name="Text 32"/>
          <p:cNvSpPr/>
          <p:nvPr/>
        </p:nvSpPr>
        <p:spPr>
          <a:xfrm>
            <a:off x="6675120" y="2651760"/>
            <a:ext cx="1115568" cy="822960"/>
          </a:xfrm>
          <a:prstGeom prst="rect">
            <a:avLst/>
          </a:prstGeom>
          <a:noFill/>
          <a:ln/>
        </p:spPr>
        <p:txBody>
          <a:bodyPr wrap="square" rtlCol="0" anchor="ctr"/>
          <a:lstStyle/>
          <a:p>
            <a:pPr marL="0" indent="0" algn="ctr">
              <a:buNone/>
            </a:pPr>
            <a:r>
              <a:rPr lang="en-US" sz="900" dirty="0">
                <a:solidFill>
                  <a:srgbClr val="333333"/>
                </a:solidFill>
                <a:latin typeface="Calibri" pitchFamily="34" charset="0"/>
                <a:ea typeface="Calibri" pitchFamily="34" charset="-122"/>
                <a:cs typeface="Calibri" pitchFamily="34" charset="-120"/>
              </a:rPr>
              <a:t>Clip continuous outliers (1%/99%)</a:t>
            </a:r>
            <a:endParaRPr lang="en-US" sz="900" dirty="0"/>
          </a:p>
        </p:txBody>
      </p:sp>
      <p:sp>
        <p:nvSpPr>
          <p:cNvPr id="35" name="Shape 33"/>
          <p:cNvSpPr/>
          <p:nvPr/>
        </p:nvSpPr>
        <p:spPr>
          <a:xfrm>
            <a:off x="7882128" y="1463040"/>
            <a:ext cx="1207008" cy="457200"/>
          </a:xfrm>
          <a:prstGeom prst="rect">
            <a:avLst/>
          </a:prstGeom>
          <a:solidFill>
            <a:srgbClr val="1E2761"/>
          </a:solidFill>
          <a:ln/>
        </p:spPr>
        <p:txBody>
          <a:bodyPr/>
          <a:lstStyle/>
          <a:p>
            <a:endParaRPr lang="en-US"/>
          </a:p>
        </p:txBody>
      </p:sp>
      <p:sp>
        <p:nvSpPr>
          <p:cNvPr id="36" name="Text 34"/>
          <p:cNvSpPr/>
          <p:nvPr/>
        </p:nvSpPr>
        <p:spPr>
          <a:xfrm>
            <a:off x="7882128" y="1463040"/>
            <a:ext cx="1207008" cy="457200"/>
          </a:xfrm>
          <a:prstGeom prst="rect">
            <a:avLst/>
          </a:prstGeom>
          <a:noFill/>
          <a:ln/>
        </p:spPr>
        <p:txBody>
          <a:bodyPr wrap="square" rtlCol="0" anchor="ctr"/>
          <a:lstStyle/>
          <a:p>
            <a:pPr marL="0" indent="0" algn="ctr">
              <a:buNone/>
            </a:pPr>
            <a:r>
              <a:rPr lang="en-US" sz="1800" b="1" dirty="0">
                <a:solidFill>
                  <a:srgbClr val="E85D04"/>
                </a:solidFill>
                <a:latin typeface="Georgia" pitchFamily="34" charset="0"/>
                <a:ea typeface="Georgia" pitchFamily="34" charset="-122"/>
                <a:cs typeface="Georgia" pitchFamily="34" charset="-120"/>
              </a:rPr>
              <a:t>7</a:t>
            </a:r>
            <a:endParaRPr lang="en-US" sz="1800" dirty="0"/>
          </a:p>
        </p:txBody>
      </p:sp>
      <p:sp>
        <p:nvSpPr>
          <p:cNvPr id="37" name="Shape 35"/>
          <p:cNvSpPr/>
          <p:nvPr/>
        </p:nvSpPr>
        <p:spPr>
          <a:xfrm>
            <a:off x="7882128" y="1920240"/>
            <a:ext cx="1207008"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38" name="Text 36"/>
          <p:cNvSpPr/>
          <p:nvPr/>
        </p:nvSpPr>
        <p:spPr>
          <a:xfrm>
            <a:off x="7927848" y="2011680"/>
            <a:ext cx="1115568" cy="640080"/>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Center &amp; Scale</a:t>
            </a:r>
            <a:endParaRPr lang="en-US" sz="1000" dirty="0"/>
          </a:p>
        </p:txBody>
      </p:sp>
      <p:sp>
        <p:nvSpPr>
          <p:cNvPr id="39" name="Text 37"/>
          <p:cNvSpPr/>
          <p:nvPr/>
        </p:nvSpPr>
        <p:spPr>
          <a:xfrm>
            <a:off x="7927848" y="2651760"/>
            <a:ext cx="1115568" cy="822960"/>
          </a:xfrm>
          <a:prstGeom prst="rect">
            <a:avLst/>
          </a:prstGeom>
          <a:noFill/>
          <a:ln/>
        </p:spPr>
        <p:txBody>
          <a:bodyPr wrap="square" rtlCol="0" anchor="ctr"/>
          <a:lstStyle/>
          <a:p>
            <a:pPr marL="0" indent="0" algn="ctr">
              <a:buNone/>
            </a:pPr>
            <a:r>
              <a:rPr lang="en-US" sz="900" dirty="0">
                <a:solidFill>
                  <a:srgbClr val="333333"/>
                </a:solidFill>
                <a:latin typeface="Calibri" pitchFamily="34" charset="0"/>
                <a:ea typeface="Calibri" pitchFamily="34" charset="-122"/>
                <a:cs typeface="Calibri" pitchFamily="34" charset="-120"/>
              </a:rPr>
              <a:t>Zero mean, unit variance</a:t>
            </a:r>
            <a:endParaRPr lang="en-US" sz="900" dirty="0"/>
          </a:p>
        </p:txBody>
      </p:sp>
      <p:sp>
        <p:nvSpPr>
          <p:cNvPr id="40" name="Shape 38"/>
          <p:cNvSpPr/>
          <p:nvPr/>
        </p:nvSpPr>
        <p:spPr>
          <a:xfrm>
            <a:off x="548640" y="3840480"/>
            <a:ext cx="8046720" cy="777240"/>
          </a:xfrm>
          <a:prstGeom prst="rect">
            <a:avLst/>
          </a:prstGeom>
          <a:solidFill>
            <a:srgbClr val="F2F4F8"/>
          </a:solidFill>
          <a:ln/>
        </p:spPr>
        <p:txBody>
          <a:bodyPr/>
          <a:lstStyle/>
          <a:p>
            <a:endParaRPr lang="en-US"/>
          </a:p>
        </p:txBody>
      </p:sp>
      <p:sp>
        <p:nvSpPr>
          <p:cNvPr id="41" name="Text 39"/>
          <p:cNvSpPr/>
          <p:nvPr/>
        </p:nvSpPr>
        <p:spPr>
          <a:xfrm>
            <a:off x="731520" y="3931920"/>
            <a:ext cx="7680960" cy="64008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Result: </a:t>
            </a:r>
            <a:r>
              <a:rPr lang="en-US" sz="1200" dirty="0">
                <a:solidFill>
                  <a:srgbClr val="333333"/>
                </a:solidFill>
                <a:latin typeface="Calibri" pitchFamily="34" charset="0"/>
                <a:ea typeface="Calibri" pitchFamily="34" charset="-122"/>
                <a:cs typeface="Calibri" pitchFamily="34" charset="-120"/>
              </a:rPr>
              <a:t>9,636 training rows × 118 features  →  Saved as </a:t>
            </a:r>
            <a:r>
              <a:rPr lang="en-US" sz="1200" i="1" dirty="0">
                <a:solidFill>
                  <a:srgbClr val="E85D04"/>
                </a:solidFill>
                <a:latin typeface="Calibri" pitchFamily="34" charset="0"/>
                <a:ea typeface="Calibri" pitchFamily="34" charset="-122"/>
                <a:cs typeface="Calibri" pitchFamily="34" charset="-120"/>
              </a:rPr>
              <a:t>preprocessed_data.csv, initial_train.csv, initial_test.csv</a:t>
            </a:r>
            <a:endParaRPr lang="en-US" sz="1200" dirty="0"/>
          </a:p>
        </p:txBody>
      </p:sp>
      <p:sp>
        <p:nvSpPr>
          <p:cNvPr id="42" name="Text 40"/>
          <p:cNvSpPr/>
          <p:nvPr/>
        </p:nvSpPr>
        <p:spPr>
          <a:xfrm>
            <a:off x="548640" y="4800600"/>
            <a:ext cx="8046720" cy="274320"/>
          </a:xfrm>
          <a:prstGeom prst="rect">
            <a:avLst/>
          </a:prstGeom>
          <a:noFill/>
          <a:ln/>
        </p:spPr>
        <p:txBody>
          <a:bodyPr wrap="square" rtlCol="0" anchor="ctr"/>
          <a:lstStyle/>
          <a:p>
            <a:pPr marL="0" indent="0" algn="r">
              <a:buNone/>
            </a:pPr>
            <a:r>
              <a:rPr lang="en-US" sz="900" dirty="0">
                <a:solidFill>
                  <a:srgbClr val="777777"/>
                </a:solidFill>
                <a:latin typeface="Calibri" pitchFamily="34" charset="0"/>
                <a:ea typeface="Calibri" pitchFamily="34" charset="-122"/>
                <a:cs typeface="Calibri" pitchFamily="34" charset="-120"/>
              </a:rPr>
              <a:t>Ho Man Cheng  |  Slide 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Class Imbalance Problem</a:t>
            </a:r>
            <a:endParaRPr lang="en-US" sz="2800" dirty="0"/>
          </a:p>
        </p:txBody>
      </p:sp>
      <p:sp>
        <p:nvSpPr>
          <p:cNvPr id="3" name="Shape 1"/>
          <p:cNvSpPr/>
          <p:nvPr/>
        </p:nvSpPr>
        <p:spPr>
          <a:xfrm>
            <a:off x="548640" y="868680"/>
            <a:ext cx="1188720" cy="36576"/>
          </a:xfrm>
          <a:prstGeom prst="rect">
            <a:avLst/>
          </a:prstGeom>
          <a:solidFill>
            <a:srgbClr val="E85D04"/>
          </a:solidFill>
          <a:ln/>
        </p:spPr>
        <p:txBody>
          <a:bodyPr/>
          <a:lstStyle/>
          <a:p>
            <a:endParaRPr lang="en-US"/>
          </a:p>
        </p:txBody>
      </p:sp>
      <p:sp>
        <p:nvSpPr>
          <p:cNvPr id="4" name="Text 2"/>
          <p:cNvSpPr/>
          <p:nvPr/>
        </p:nvSpPr>
        <p:spPr>
          <a:xfrm>
            <a:off x="548640" y="914400"/>
            <a:ext cx="8046720" cy="320040"/>
          </a:xfrm>
          <a:prstGeom prst="rect">
            <a:avLst/>
          </a:prstGeom>
          <a:noFill/>
          <a:ln/>
        </p:spPr>
        <p:txBody>
          <a:bodyPr wrap="square" rtlCol="0" anchor="ctr"/>
          <a:lstStyle/>
          <a:p>
            <a:pPr marL="0" indent="0">
              <a:buNone/>
            </a:pPr>
            <a:r>
              <a:rPr lang="en-US" sz="1300" i="1" dirty="0">
                <a:solidFill>
                  <a:srgbClr val="777777"/>
                </a:solidFill>
                <a:latin typeface="Calibri" pitchFamily="34" charset="0"/>
                <a:ea typeface="Calibri" pitchFamily="34" charset="-122"/>
                <a:cs typeface="Calibri" pitchFamily="34" charset="-120"/>
              </a:rPr>
              <a:t>Majority class dominates — models bias toward predicting 'No'</a:t>
            </a:r>
            <a:endParaRPr lang="en-US" sz="1300" dirty="0"/>
          </a:p>
        </p:txBody>
      </p:sp>
      <p:pic>
        <p:nvPicPr>
          <p:cNvPr id="5" name="Image 0" descr="D:\VS Code\VS Code Project\BU\699 HW\Project_New\charts\chart1_class_distribution.png"/>
          <p:cNvPicPr>
            <a:picLocks noChangeAspect="1"/>
          </p:cNvPicPr>
          <p:nvPr/>
        </p:nvPicPr>
        <p:blipFill>
          <a:blip r:embed="rId3"/>
          <a:stretch>
            <a:fillRect/>
          </a:stretch>
        </p:blipFill>
        <p:spPr>
          <a:xfrm>
            <a:off x="548640" y="1280160"/>
            <a:ext cx="4754880" cy="3200400"/>
          </a:xfrm>
          <a:prstGeom prst="rect">
            <a:avLst/>
          </a:prstGeom>
        </p:spPr>
      </p:pic>
      <p:sp>
        <p:nvSpPr>
          <p:cNvPr id="6" name="Text 3"/>
          <p:cNvSpPr/>
          <p:nvPr/>
        </p:nvSpPr>
        <p:spPr>
          <a:xfrm>
            <a:off x="548640" y="4480560"/>
            <a:ext cx="4754880" cy="274320"/>
          </a:xfrm>
          <a:prstGeom prst="rect">
            <a:avLst/>
          </a:prstGeom>
          <a:noFill/>
          <a:ln/>
        </p:spPr>
        <p:txBody>
          <a:bodyPr wrap="square" rtlCol="0" anchor="ctr"/>
          <a:lstStyle/>
          <a:p>
            <a:pPr marL="0" indent="0" algn="ctr">
              <a:buNone/>
            </a:pPr>
            <a:r>
              <a:rPr lang="en-US" sz="1000" i="1" dirty="0">
                <a:solidFill>
                  <a:srgbClr val="777777"/>
                </a:solidFill>
                <a:latin typeface="Calibri" pitchFamily="34" charset="0"/>
                <a:ea typeface="Calibri" pitchFamily="34" charset="-122"/>
                <a:cs typeface="Calibri" pitchFamily="34" charset="-120"/>
              </a:rPr>
              <a:t>Figure 1. Class distribution in the training set</a:t>
            </a:r>
            <a:endParaRPr lang="en-US" sz="1000" dirty="0"/>
          </a:p>
        </p:txBody>
      </p:sp>
      <p:sp>
        <p:nvSpPr>
          <p:cNvPr id="7" name="Shape 4"/>
          <p:cNvSpPr/>
          <p:nvPr/>
        </p:nvSpPr>
        <p:spPr>
          <a:xfrm>
            <a:off x="5577840" y="1280160"/>
            <a:ext cx="3017520" cy="3200400"/>
          </a:xfrm>
          <a:prstGeom prst="rect">
            <a:avLst/>
          </a:prstGeom>
          <a:solidFill>
            <a:srgbClr val="1E2761"/>
          </a:solidFill>
          <a:ln/>
          <a:effectLst>
            <a:outerShdw blurRad="76200" dist="25400" dir="8100000" algn="bl" rotWithShape="0">
              <a:srgbClr val="000000">
                <a:alpha val="12000"/>
              </a:srgbClr>
            </a:outerShdw>
          </a:effectLst>
        </p:spPr>
        <p:txBody>
          <a:bodyPr/>
          <a:lstStyle/>
          <a:p>
            <a:endParaRPr lang="en-US"/>
          </a:p>
        </p:txBody>
      </p:sp>
      <p:sp>
        <p:nvSpPr>
          <p:cNvPr id="8" name="Text 5"/>
          <p:cNvSpPr/>
          <p:nvPr/>
        </p:nvSpPr>
        <p:spPr>
          <a:xfrm>
            <a:off x="5760720" y="1371600"/>
            <a:ext cx="27432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Why it matters</a:t>
            </a:r>
            <a:endParaRPr lang="en-US" sz="1500" dirty="0"/>
          </a:p>
        </p:txBody>
      </p:sp>
      <p:sp>
        <p:nvSpPr>
          <p:cNvPr id="9" name="Text 6"/>
          <p:cNvSpPr/>
          <p:nvPr/>
        </p:nvSpPr>
        <p:spPr>
          <a:xfrm>
            <a:off x="5760720" y="1783080"/>
            <a:ext cx="2743200" cy="2651760"/>
          </a:xfrm>
          <a:prstGeom prst="rect">
            <a:avLst/>
          </a:prstGeom>
          <a:noFill/>
          <a:ln/>
        </p:spPr>
        <p:txBody>
          <a:bodyPr wrap="square" rtlCol="0" anchor="ctr"/>
          <a:lstStyle/>
          <a:p>
            <a:pPr marL="342900" indent="-342900">
              <a:spcAft>
                <a:spcPts val="600"/>
              </a:spcAft>
              <a:buSzPct val="100000"/>
              <a:buChar char="•"/>
            </a:pPr>
            <a:r>
              <a:rPr lang="en-US" sz="1200" dirty="0">
                <a:solidFill>
                  <a:srgbClr val="EEEEEE"/>
                </a:solidFill>
                <a:latin typeface="Calibri" pitchFamily="34" charset="0"/>
                <a:ea typeface="Calibri" pitchFamily="34" charset="-122"/>
                <a:cs typeface="Calibri" pitchFamily="34" charset="-120"/>
              </a:rPr>
              <a:t>~70% No vs ~30% Yes</a:t>
            </a:r>
            <a:endParaRPr lang="en-US" sz="1200" dirty="0"/>
          </a:p>
          <a:p>
            <a:pPr marL="342900" indent="-342900">
              <a:spcAft>
                <a:spcPts val="600"/>
              </a:spcAft>
              <a:buSzPct val="100000"/>
              <a:buChar char="•"/>
            </a:pPr>
            <a:r>
              <a:rPr lang="en-US" sz="1200" dirty="0">
                <a:solidFill>
                  <a:srgbClr val="EEEEEE"/>
                </a:solidFill>
                <a:latin typeface="Calibri" pitchFamily="34" charset="0"/>
                <a:ea typeface="Calibri" pitchFamily="34" charset="-122"/>
                <a:cs typeface="Calibri" pitchFamily="34" charset="-120"/>
              </a:rPr>
              <a:t>Accuracy is misleading under imbalance</a:t>
            </a:r>
            <a:endParaRPr lang="en-US" sz="1200" dirty="0"/>
          </a:p>
          <a:p>
            <a:pPr marL="342900" indent="-342900">
              <a:spcAft>
                <a:spcPts val="600"/>
              </a:spcAft>
              <a:buSzPct val="100000"/>
              <a:buChar char="•"/>
            </a:pPr>
            <a:r>
              <a:rPr lang="en-US" sz="1200" dirty="0">
                <a:solidFill>
                  <a:srgbClr val="EEEEEE"/>
                </a:solidFill>
                <a:latin typeface="Calibri" pitchFamily="34" charset="0"/>
                <a:ea typeface="Calibri" pitchFamily="34" charset="-122"/>
                <a:cs typeface="Calibri" pitchFamily="34" charset="-120"/>
              </a:rPr>
              <a:t>Minority class (Yes) = the class we most want to detect</a:t>
            </a:r>
            <a:endParaRPr lang="en-US" sz="1200" dirty="0"/>
          </a:p>
          <a:p>
            <a:pPr marL="342900" indent="-342900">
              <a:spcAft>
                <a:spcPts val="600"/>
              </a:spcAft>
              <a:buSzPct val="100000"/>
              <a:buChar char="•"/>
            </a:pPr>
            <a:r>
              <a:rPr lang="en-US" sz="1200" b="1" dirty="0">
                <a:solidFill>
                  <a:srgbClr val="EEEEEE"/>
                </a:solidFill>
                <a:latin typeface="Calibri" pitchFamily="34" charset="0"/>
                <a:ea typeface="Calibri" pitchFamily="34" charset="-122"/>
                <a:cs typeface="Calibri" pitchFamily="34" charset="-120"/>
              </a:rPr>
              <a:t>Solution: apply balancing before training</a:t>
            </a:r>
            <a:endParaRPr lang="en-US" sz="1200" dirty="0"/>
          </a:p>
        </p:txBody>
      </p:sp>
      <p:sp>
        <p:nvSpPr>
          <p:cNvPr id="10" name="Text 7"/>
          <p:cNvSpPr/>
          <p:nvPr/>
        </p:nvSpPr>
        <p:spPr>
          <a:xfrm>
            <a:off x="548640" y="4800600"/>
            <a:ext cx="8046720" cy="274320"/>
          </a:xfrm>
          <a:prstGeom prst="rect">
            <a:avLst/>
          </a:prstGeom>
          <a:noFill/>
          <a:ln/>
        </p:spPr>
        <p:txBody>
          <a:bodyPr wrap="square" rtlCol="0" anchor="ctr"/>
          <a:lstStyle/>
          <a:p>
            <a:pPr marL="0" indent="0" algn="r">
              <a:buNone/>
            </a:pPr>
            <a:r>
              <a:rPr lang="en-US" sz="900" dirty="0">
                <a:solidFill>
                  <a:srgbClr val="777777"/>
                </a:solidFill>
                <a:latin typeface="Calibri" pitchFamily="34" charset="0"/>
                <a:ea typeface="Calibri" pitchFamily="34" charset="-122"/>
                <a:cs typeface="Calibri" pitchFamily="34" charset="-120"/>
              </a:rPr>
              <a:t>Ho Man Cheng  |  Slide 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4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Four Balancing Methods</a:t>
            </a:r>
            <a:endParaRPr lang="en-US" sz="2800" dirty="0"/>
          </a:p>
        </p:txBody>
      </p:sp>
      <p:sp>
        <p:nvSpPr>
          <p:cNvPr id="3" name="Shape 1"/>
          <p:cNvSpPr/>
          <p:nvPr/>
        </p:nvSpPr>
        <p:spPr>
          <a:xfrm>
            <a:off x="548640" y="868680"/>
            <a:ext cx="1188720" cy="36576"/>
          </a:xfrm>
          <a:prstGeom prst="rect">
            <a:avLst/>
          </a:prstGeom>
          <a:solidFill>
            <a:srgbClr val="E85D04"/>
          </a:solidFill>
          <a:ln/>
        </p:spPr>
        <p:txBody>
          <a:bodyPr/>
          <a:lstStyle/>
          <a:p>
            <a:endParaRPr lang="en-US"/>
          </a:p>
        </p:txBody>
      </p:sp>
      <p:sp>
        <p:nvSpPr>
          <p:cNvPr id="4" name="Text 2"/>
          <p:cNvSpPr/>
          <p:nvPr/>
        </p:nvSpPr>
        <p:spPr>
          <a:xfrm>
            <a:off x="548640" y="914400"/>
            <a:ext cx="8046720" cy="320040"/>
          </a:xfrm>
          <a:prstGeom prst="rect">
            <a:avLst/>
          </a:prstGeom>
          <a:noFill/>
          <a:ln/>
        </p:spPr>
        <p:txBody>
          <a:bodyPr wrap="square" rtlCol="0" anchor="ctr"/>
          <a:lstStyle/>
          <a:p>
            <a:pPr marL="0" indent="0">
              <a:buNone/>
            </a:pPr>
            <a:r>
              <a:rPr lang="en-US" sz="1300" i="1" dirty="0">
                <a:solidFill>
                  <a:srgbClr val="777777"/>
                </a:solidFill>
                <a:latin typeface="Calibri" pitchFamily="34" charset="0"/>
                <a:ea typeface="Calibri" pitchFamily="34" charset="-122"/>
                <a:cs typeface="Calibri" pitchFamily="34" charset="-120"/>
              </a:rPr>
              <a:t>Applied to training set only — test set stays untouched</a:t>
            </a:r>
            <a:endParaRPr lang="en-US" sz="1300" dirty="0"/>
          </a:p>
        </p:txBody>
      </p:sp>
      <p:sp>
        <p:nvSpPr>
          <p:cNvPr id="5" name="Shape 3"/>
          <p:cNvSpPr/>
          <p:nvPr/>
        </p:nvSpPr>
        <p:spPr>
          <a:xfrm>
            <a:off x="548640" y="1371600"/>
            <a:ext cx="3931920" cy="1417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548640" y="1371600"/>
            <a:ext cx="137160" cy="1417320"/>
          </a:xfrm>
          <a:prstGeom prst="rect">
            <a:avLst/>
          </a:prstGeom>
          <a:solidFill>
            <a:srgbClr val="1E2761"/>
          </a:solidFill>
          <a:ln/>
        </p:spPr>
        <p:txBody>
          <a:bodyPr/>
          <a:lstStyle/>
          <a:p>
            <a:endParaRPr lang="en-US"/>
          </a:p>
        </p:txBody>
      </p:sp>
      <p:sp>
        <p:nvSpPr>
          <p:cNvPr id="7" name="Text 5"/>
          <p:cNvSpPr/>
          <p:nvPr/>
        </p:nvSpPr>
        <p:spPr>
          <a:xfrm>
            <a:off x="822960" y="1463040"/>
            <a:ext cx="365760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Random Undersampling</a:t>
            </a:r>
            <a:endParaRPr lang="en-US" sz="1500" dirty="0"/>
          </a:p>
        </p:txBody>
      </p:sp>
      <p:sp>
        <p:nvSpPr>
          <p:cNvPr id="8" name="Text 6"/>
          <p:cNvSpPr/>
          <p:nvPr/>
        </p:nvSpPr>
        <p:spPr>
          <a:xfrm>
            <a:off x="822960" y="1874520"/>
            <a:ext cx="3657600" cy="82296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Remove majority-class samples to match minority count</a:t>
            </a:r>
            <a:endParaRPr lang="en-US" sz="1200" dirty="0"/>
          </a:p>
        </p:txBody>
      </p:sp>
      <p:sp>
        <p:nvSpPr>
          <p:cNvPr id="9" name="Shape 7"/>
          <p:cNvSpPr/>
          <p:nvPr/>
        </p:nvSpPr>
        <p:spPr>
          <a:xfrm>
            <a:off x="4663440" y="1371600"/>
            <a:ext cx="3931920" cy="1417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4663440" y="1371600"/>
            <a:ext cx="137160" cy="1417320"/>
          </a:xfrm>
          <a:prstGeom prst="rect">
            <a:avLst/>
          </a:prstGeom>
          <a:solidFill>
            <a:srgbClr val="408EC6"/>
          </a:solidFill>
          <a:ln/>
        </p:spPr>
        <p:txBody>
          <a:bodyPr/>
          <a:lstStyle/>
          <a:p>
            <a:endParaRPr lang="en-US"/>
          </a:p>
        </p:txBody>
      </p:sp>
      <p:sp>
        <p:nvSpPr>
          <p:cNvPr id="11" name="Text 9"/>
          <p:cNvSpPr/>
          <p:nvPr/>
        </p:nvSpPr>
        <p:spPr>
          <a:xfrm>
            <a:off x="4937760" y="1463040"/>
            <a:ext cx="365760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Random Oversampling</a:t>
            </a:r>
            <a:endParaRPr lang="en-US" sz="1500" dirty="0"/>
          </a:p>
        </p:txBody>
      </p:sp>
      <p:sp>
        <p:nvSpPr>
          <p:cNvPr id="12" name="Text 10"/>
          <p:cNvSpPr/>
          <p:nvPr/>
        </p:nvSpPr>
        <p:spPr>
          <a:xfrm>
            <a:off x="4937760" y="1874520"/>
            <a:ext cx="3657600" cy="82296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Duplicate minority-class samples to match majority count</a:t>
            </a:r>
            <a:endParaRPr lang="en-US" sz="1200" dirty="0"/>
          </a:p>
        </p:txBody>
      </p:sp>
      <p:sp>
        <p:nvSpPr>
          <p:cNvPr id="13" name="Shape 11"/>
          <p:cNvSpPr/>
          <p:nvPr/>
        </p:nvSpPr>
        <p:spPr>
          <a:xfrm>
            <a:off x="548640" y="2971800"/>
            <a:ext cx="3931920" cy="1417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2"/>
          <p:cNvSpPr/>
          <p:nvPr/>
        </p:nvSpPr>
        <p:spPr>
          <a:xfrm>
            <a:off x="548640" y="2971800"/>
            <a:ext cx="137160" cy="1417320"/>
          </a:xfrm>
          <a:prstGeom prst="rect">
            <a:avLst/>
          </a:prstGeom>
          <a:solidFill>
            <a:srgbClr val="1E2761"/>
          </a:solidFill>
          <a:ln/>
        </p:spPr>
        <p:txBody>
          <a:bodyPr/>
          <a:lstStyle/>
          <a:p>
            <a:endParaRPr lang="en-US"/>
          </a:p>
        </p:txBody>
      </p:sp>
      <p:sp>
        <p:nvSpPr>
          <p:cNvPr id="15" name="Text 13"/>
          <p:cNvSpPr/>
          <p:nvPr/>
        </p:nvSpPr>
        <p:spPr>
          <a:xfrm>
            <a:off x="822960" y="3063240"/>
            <a:ext cx="365760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SMOTE  (K=5)</a:t>
            </a:r>
            <a:endParaRPr lang="en-US" sz="1500" dirty="0"/>
          </a:p>
        </p:txBody>
      </p:sp>
      <p:sp>
        <p:nvSpPr>
          <p:cNvPr id="16" name="Text 14"/>
          <p:cNvSpPr/>
          <p:nvPr/>
        </p:nvSpPr>
        <p:spPr>
          <a:xfrm>
            <a:off x="822960" y="3474720"/>
            <a:ext cx="3657600" cy="82296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Synthesize new minority samples via nearest neighbors</a:t>
            </a:r>
            <a:endParaRPr lang="en-US" sz="1200" dirty="0"/>
          </a:p>
        </p:txBody>
      </p:sp>
      <p:sp>
        <p:nvSpPr>
          <p:cNvPr id="17" name="Shape 15"/>
          <p:cNvSpPr/>
          <p:nvPr/>
        </p:nvSpPr>
        <p:spPr>
          <a:xfrm>
            <a:off x="4663440" y="2971800"/>
            <a:ext cx="3931920" cy="1417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8" name="Shape 16"/>
          <p:cNvSpPr/>
          <p:nvPr/>
        </p:nvSpPr>
        <p:spPr>
          <a:xfrm>
            <a:off x="4663440" y="2971800"/>
            <a:ext cx="137160" cy="1417320"/>
          </a:xfrm>
          <a:prstGeom prst="rect">
            <a:avLst/>
          </a:prstGeom>
          <a:solidFill>
            <a:srgbClr val="408EC6"/>
          </a:solidFill>
          <a:ln/>
        </p:spPr>
        <p:txBody>
          <a:bodyPr/>
          <a:lstStyle/>
          <a:p>
            <a:endParaRPr lang="en-US"/>
          </a:p>
        </p:txBody>
      </p:sp>
      <p:sp>
        <p:nvSpPr>
          <p:cNvPr id="19" name="Text 17"/>
          <p:cNvSpPr/>
          <p:nvPr/>
        </p:nvSpPr>
        <p:spPr>
          <a:xfrm>
            <a:off x="4937760" y="3063240"/>
            <a:ext cx="365760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ROSE</a:t>
            </a:r>
            <a:endParaRPr lang="en-US" sz="1500" dirty="0"/>
          </a:p>
        </p:txBody>
      </p:sp>
      <p:sp>
        <p:nvSpPr>
          <p:cNvPr id="20" name="Text 18"/>
          <p:cNvSpPr/>
          <p:nvPr/>
        </p:nvSpPr>
        <p:spPr>
          <a:xfrm>
            <a:off x="4937760" y="3474720"/>
            <a:ext cx="3657600" cy="82296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Generate a balanced synthetic sample via smoothed bootstrap</a:t>
            </a:r>
            <a:endParaRPr lang="en-US" sz="1200" dirty="0"/>
          </a:p>
        </p:txBody>
      </p:sp>
      <p:sp>
        <p:nvSpPr>
          <p:cNvPr id="21" name="Text 19"/>
          <p:cNvSpPr/>
          <p:nvPr/>
        </p:nvSpPr>
        <p:spPr>
          <a:xfrm>
            <a:off x="548640" y="4800600"/>
            <a:ext cx="8046720" cy="274320"/>
          </a:xfrm>
          <a:prstGeom prst="rect">
            <a:avLst/>
          </a:prstGeom>
          <a:noFill/>
          <a:ln/>
        </p:spPr>
        <p:txBody>
          <a:bodyPr wrap="square" rtlCol="0" anchor="ctr"/>
          <a:lstStyle/>
          <a:p>
            <a:pPr marL="0" indent="0" algn="r">
              <a:buNone/>
            </a:pPr>
            <a:r>
              <a:rPr lang="en-US" sz="900" dirty="0">
                <a:solidFill>
                  <a:srgbClr val="777777"/>
                </a:solidFill>
                <a:latin typeface="Calibri" pitchFamily="34" charset="0"/>
                <a:ea typeface="Calibri" pitchFamily="34" charset="-122"/>
                <a:cs typeface="Calibri" pitchFamily="34" charset="-120"/>
              </a:rPr>
              <a:t>Ho Man Cheng  |  Slide 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4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Evaluation Methodology</a:t>
            </a:r>
            <a:endParaRPr lang="en-US" sz="2800" dirty="0"/>
          </a:p>
        </p:txBody>
      </p:sp>
      <p:sp>
        <p:nvSpPr>
          <p:cNvPr id="3" name="Shape 1"/>
          <p:cNvSpPr/>
          <p:nvPr/>
        </p:nvSpPr>
        <p:spPr>
          <a:xfrm>
            <a:off x="548640" y="868680"/>
            <a:ext cx="1188720" cy="36576"/>
          </a:xfrm>
          <a:prstGeom prst="rect">
            <a:avLst/>
          </a:prstGeom>
          <a:solidFill>
            <a:srgbClr val="E85D04"/>
          </a:solidFill>
          <a:ln/>
        </p:spPr>
        <p:txBody>
          <a:bodyPr/>
          <a:lstStyle/>
          <a:p>
            <a:endParaRPr lang="en-US"/>
          </a:p>
        </p:txBody>
      </p:sp>
      <p:sp>
        <p:nvSpPr>
          <p:cNvPr id="4" name="Text 2"/>
          <p:cNvSpPr/>
          <p:nvPr/>
        </p:nvSpPr>
        <p:spPr>
          <a:xfrm>
            <a:off x="548640" y="914400"/>
            <a:ext cx="8046720" cy="320040"/>
          </a:xfrm>
          <a:prstGeom prst="rect">
            <a:avLst/>
          </a:prstGeom>
          <a:noFill/>
          <a:ln/>
        </p:spPr>
        <p:txBody>
          <a:bodyPr wrap="square" rtlCol="0" anchor="ctr"/>
          <a:lstStyle/>
          <a:p>
            <a:pPr marL="0" indent="0">
              <a:buNone/>
            </a:pPr>
            <a:r>
              <a:rPr lang="en-US" sz="1300" i="1" dirty="0">
                <a:solidFill>
                  <a:srgbClr val="777777"/>
                </a:solidFill>
                <a:latin typeface="Calibri" pitchFamily="34" charset="0"/>
                <a:ea typeface="Calibri" pitchFamily="34" charset="-122"/>
                <a:cs typeface="Calibri" pitchFamily="34" charset="-120"/>
              </a:rPr>
              <a:t>Holdout test set  |  Fixed threshold 0.5  |  5-fold CV for tuning only</a:t>
            </a:r>
            <a:endParaRPr lang="en-US" sz="1300" dirty="0"/>
          </a:p>
        </p:txBody>
      </p:sp>
      <p:sp>
        <p:nvSpPr>
          <p:cNvPr id="5" name="Shape 3"/>
          <p:cNvSpPr/>
          <p:nvPr/>
        </p:nvSpPr>
        <p:spPr>
          <a:xfrm>
            <a:off x="548640" y="1371600"/>
            <a:ext cx="3931920" cy="3200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Text 4"/>
          <p:cNvSpPr/>
          <p:nvPr/>
        </p:nvSpPr>
        <p:spPr>
          <a:xfrm>
            <a:off x="731520" y="1463040"/>
            <a:ext cx="365760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How we evaluated 36 models</a:t>
            </a:r>
            <a:endParaRPr lang="en-US" sz="1500" dirty="0"/>
          </a:p>
        </p:txBody>
      </p:sp>
      <p:sp>
        <p:nvSpPr>
          <p:cNvPr id="7" name="Text 5"/>
          <p:cNvSpPr/>
          <p:nvPr/>
        </p:nvSpPr>
        <p:spPr>
          <a:xfrm>
            <a:off x="731520" y="1874520"/>
            <a:ext cx="3657600" cy="2651760"/>
          </a:xfrm>
          <a:prstGeom prst="rect">
            <a:avLst/>
          </a:prstGeom>
          <a:noFill/>
          <a:ln/>
        </p:spPr>
        <p:txBody>
          <a:bodyPr wrap="square" rtlCol="0" anchor="ctr"/>
          <a:lstStyle/>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Hold-out 2,409 rows as unbalanced test set</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5-fold cross-validation used only for hyperparameter tuning (never for final scoring)</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Predict with fixed decision threshold = 0.5</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Report on original imbalanced test → real-world fidelity</a:t>
            </a:r>
            <a:endParaRPr lang="en-US" sz="1200" dirty="0"/>
          </a:p>
        </p:txBody>
      </p:sp>
      <p:sp>
        <p:nvSpPr>
          <p:cNvPr id="8" name="Shape 6"/>
          <p:cNvSpPr/>
          <p:nvPr/>
        </p:nvSpPr>
        <p:spPr>
          <a:xfrm>
            <a:off x="4663440" y="1371600"/>
            <a:ext cx="3931920" cy="3200400"/>
          </a:xfrm>
          <a:prstGeom prst="rect">
            <a:avLst/>
          </a:prstGeom>
          <a:solidFill>
            <a:srgbClr val="1E2761"/>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4846320" y="1463040"/>
            <a:ext cx="36576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Metrics Tracked</a:t>
            </a:r>
            <a:endParaRPr lang="en-US" sz="1500" dirty="0"/>
          </a:p>
        </p:txBody>
      </p:sp>
      <p:sp>
        <p:nvSpPr>
          <p:cNvPr id="10" name="Text 8"/>
          <p:cNvSpPr/>
          <p:nvPr/>
        </p:nvSpPr>
        <p:spPr>
          <a:xfrm>
            <a:off x="4846320" y="1874520"/>
            <a:ext cx="3657600" cy="2651760"/>
          </a:xfrm>
          <a:prstGeom prst="rect">
            <a:avLst/>
          </a:prstGeom>
          <a:noFill/>
          <a:ln/>
        </p:spPr>
        <p:txBody>
          <a:bodyPr wrap="square" rtlCol="0" anchor="ctr"/>
          <a:lstStyle/>
          <a:p>
            <a:pPr marL="342900" indent="-342900">
              <a:spcAft>
                <a:spcPts val="600"/>
              </a:spcAft>
              <a:buSzPct val="100000"/>
              <a:buChar char="•"/>
            </a:pPr>
            <a:r>
              <a:rPr lang="en-US" sz="1200" dirty="0">
                <a:solidFill>
                  <a:srgbClr val="EEEEEE"/>
                </a:solidFill>
                <a:latin typeface="Calibri" pitchFamily="34" charset="0"/>
                <a:ea typeface="Calibri" pitchFamily="34" charset="-122"/>
                <a:cs typeface="Calibri" pitchFamily="34" charset="-120"/>
              </a:rPr>
              <a:t>TPR (Yes) — recall for the minority class</a:t>
            </a:r>
            <a:endParaRPr lang="en-US" sz="1200" dirty="0"/>
          </a:p>
          <a:p>
            <a:pPr marL="342900" indent="-342900">
              <a:spcAft>
                <a:spcPts val="600"/>
              </a:spcAft>
              <a:buSzPct val="100000"/>
              <a:buChar char="•"/>
            </a:pPr>
            <a:r>
              <a:rPr lang="en-US" sz="1200" dirty="0">
                <a:solidFill>
                  <a:srgbClr val="EEEEEE"/>
                </a:solidFill>
                <a:latin typeface="Calibri" pitchFamily="34" charset="0"/>
                <a:ea typeface="Calibri" pitchFamily="34" charset="-122"/>
                <a:cs typeface="Calibri" pitchFamily="34" charset="-120"/>
              </a:rPr>
              <a:t>TPR (No) — recall for the majority class</a:t>
            </a:r>
            <a:endParaRPr lang="en-US" sz="1200" dirty="0"/>
          </a:p>
          <a:p>
            <a:pPr marL="342900" indent="-342900">
              <a:spcAft>
                <a:spcPts val="600"/>
              </a:spcAft>
              <a:buSzPct val="100000"/>
              <a:buChar char="•"/>
            </a:pPr>
            <a:r>
              <a:rPr lang="en-US" sz="1200" dirty="0">
                <a:solidFill>
                  <a:srgbClr val="EEEEEE"/>
                </a:solidFill>
                <a:latin typeface="Calibri" pitchFamily="34" charset="0"/>
                <a:ea typeface="Calibri" pitchFamily="34" charset="-122"/>
                <a:cs typeface="Calibri" pitchFamily="34" charset="-120"/>
              </a:rPr>
              <a:t>Precision, F1, AUC, MCC, Kappa</a:t>
            </a:r>
            <a:endParaRPr lang="en-US" sz="1200" dirty="0"/>
          </a:p>
          <a:p>
            <a:pPr marL="342900" indent="-342900">
              <a:spcAft>
                <a:spcPts val="600"/>
              </a:spcAft>
              <a:buSzPct val="100000"/>
              <a:buChar char="•"/>
            </a:pPr>
            <a:r>
              <a:rPr lang="en-US" sz="1200" dirty="0">
                <a:solidFill>
                  <a:srgbClr val="EEEEEE"/>
                </a:solidFill>
                <a:latin typeface="Calibri" pitchFamily="34" charset="0"/>
                <a:ea typeface="Calibri" pitchFamily="34" charset="-122"/>
                <a:cs typeface="Calibri" pitchFamily="34" charset="-120"/>
              </a:rPr>
              <a:t>Weighted averages for overall comparison</a:t>
            </a:r>
            <a:endParaRPr lang="en-US" sz="1200" dirty="0"/>
          </a:p>
          <a:p>
            <a:pPr marL="342900" indent="-342900">
              <a:spcAft>
                <a:spcPts val="600"/>
              </a:spcAft>
              <a:buSzPct val="100000"/>
              <a:buChar char="•"/>
            </a:pPr>
            <a:r>
              <a:rPr lang="en-US" sz="1200" b="1" dirty="0">
                <a:solidFill>
                  <a:srgbClr val="E85D04"/>
                </a:solidFill>
                <a:latin typeface="Calibri" pitchFamily="34" charset="0"/>
                <a:ea typeface="Calibri" pitchFamily="34" charset="-122"/>
                <a:cs typeface="Calibri" pitchFamily="34" charset="-120"/>
              </a:rPr>
              <a:t>Extra-credit bar: Yes TPR ≥ 0.77 AND No TPR ≥ 0.73</a:t>
            </a:r>
            <a:endParaRPr lang="en-US" sz="1200" dirty="0"/>
          </a:p>
        </p:txBody>
      </p:sp>
      <p:sp>
        <p:nvSpPr>
          <p:cNvPr id="11" name="Text 9"/>
          <p:cNvSpPr/>
          <p:nvPr/>
        </p:nvSpPr>
        <p:spPr>
          <a:xfrm>
            <a:off x="548640" y="4800600"/>
            <a:ext cx="8046720" cy="274320"/>
          </a:xfrm>
          <a:prstGeom prst="rect">
            <a:avLst/>
          </a:prstGeom>
          <a:noFill/>
          <a:ln/>
        </p:spPr>
        <p:txBody>
          <a:bodyPr wrap="square" rtlCol="0" anchor="ctr"/>
          <a:lstStyle/>
          <a:p>
            <a:pPr marL="0" indent="0" algn="r">
              <a:buNone/>
            </a:pPr>
            <a:r>
              <a:rPr lang="en-US" sz="900" dirty="0">
                <a:solidFill>
                  <a:srgbClr val="777777"/>
                </a:solidFill>
                <a:latin typeface="Calibri" pitchFamily="34" charset="0"/>
                <a:ea typeface="Calibri" pitchFamily="34" charset="-122"/>
                <a:cs typeface="Calibri" pitchFamily="34" charset="-120"/>
              </a:rPr>
              <a:t>Weitao Peng  |  Slide 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Results Overview — All 36 Models</a:t>
            </a:r>
            <a:endParaRPr lang="en-US" sz="2800" dirty="0"/>
          </a:p>
        </p:txBody>
      </p:sp>
      <p:sp>
        <p:nvSpPr>
          <p:cNvPr id="3" name="Shape 1"/>
          <p:cNvSpPr/>
          <p:nvPr/>
        </p:nvSpPr>
        <p:spPr>
          <a:xfrm>
            <a:off x="548640" y="868680"/>
            <a:ext cx="1188720" cy="36576"/>
          </a:xfrm>
          <a:prstGeom prst="rect">
            <a:avLst/>
          </a:prstGeom>
          <a:solidFill>
            <a:srgbClr val="E85D04"/>
          </a:solidFill>
          <a:ln/>
        </p:spPr>
        <p:txBody>
          <a:bodyPr/>
          <a:lstStyle/>
          <a:p>
            <a:endParaRPr lang="en-US"/>
          </a:p>
        </p:txBody>
      </p:sp>
      <p:sp>
        <p:nvSpPr>
          <p:cNvPr id="4" name="Text 2"/>
          <p:cNvSpPr/>
          <p:nvPr/>
        </p:nvSpPr>
        <p:spPr>
          <a:xfrm>
            <a:off x="548640" y="914400"/>
            <a:ext cx="8046720" cy="320040"/>
          </a:xfrm>
          <a:prstGeom prst="rect">
            <a:avLst/>
          </a:prstGeom>
          <a:noFill/>
          <a:ln/>
        </p:spPr>
        <p:txBody>
          <a:bodyPr wrap="square" rtlCol="0" anchor="ctr"/>
          <a:lstStyle/>
          <a:p>
            <a:pPr marL="0" indent="0">
              <a:buNone/>
            </a:pPr>
            <a:r>
              <a:rPr lang="en-US" sz="1300" i="1" dirty="0">
                <a:solidFill>
                  <a:srgbClr val="777777"/>
                </a:solidFill>
                <a:latin typeface="Calibri" pitchFamily="34" charset="0"/>
                <a:ea typeface="Calibri" pitchFamily="34" charset="-122"/>
                <a:cs typeface="Calibri" pitchFamily="34" charset="-120"/>
              </a:rPr>
              <a:t>Yes TPR vs No TPR  |  upper-right quadrant = strong on both classes</a:t>
            </a:r>
            <a:endParaRPr lang="en-US" sz="1300" dirty="0"/>
          </a:p>
        </p:txBody>
      </p:sp>
      <p:pic>
        <p:nvPicPr>
          <p:cNvPr id="5" name="Image 0" descr="D:\VS Code\VS Code Project\BU\699 HW\Project_New\charts\chart2_tpr_scatter.png"/>
          <p:cNvPicPr>
            <a:picLocks noChangeAspect="1"/>
          </p:cNvPicPr>
          <p:nvPr/>
        </p:nvPicPr>
        <p:blipFill>
          <a:blip r:embed="rId3"/>
          <a:stretch>
            <a:fillRect/>
          </a:stretch>
        </p:blipFill>
        <p:spPr>
          <a:xfrm>
            <a:off x="548640" y="1280160"/>
            <a:ext cx="5120640" cy="3291840"/>
          </a:xfrm>
          <a:prstGeom prst="rect">
            <a:avLst/>
          </a:prstGeom>
        </p:spPr>
      </p:pic>
      <p:sp>
        <p:nvSpPr>
          <p:cNvPr id="6" name="Text 3"/>
          <p:cNvSpPr/>
          <p:nvPr/>
        </p:nvSpPr>
        <p:spPr>
          <a:xfrm>
            <a:off x="548640" y="4572000"/>
            <a:ext cx="5120640" cy="228600"/>
          </a:xfrm>
          <a:prstGeom prst="rect">
            <a:avLst/>
          </a:prstGeom>
          <a:noFill/>
          <a:ln/>
        </p:spPr>
        <p:txBody>
          <a:bodyPr wrap="square" rtlCol="0" anchor="ctr"/>
          <a:lstStyle/>
          <a:p>
            <a:pPr marL="0" indent="0" algn="ctr">
              <a:buNone/>
            </a:pPr>
            <a:r>
              <a:rPr lang="en-US" sz="1000" i="1" dirty="0">
                <a:solidFill>
                  <a:srgbClr val="777777"/>
                </a:solidFill>
                <a:latin typeface="Calibri" pitchFamily="34" charset="0"/>
                <a:ea typeface="Calibri" pitchFamily="34" charset="-122"/>
                <a:cs typeface="Calibri" pitchFamily="34" charset="-120"/>
              </a:rPr>
              <a:t>Figure 2. Per-class recall across 36 configurations</a:t>
            </a:r>
            <a:endParaRPr lang="en-US" sz="1000" dirty="0"/>
          </a:p>
        </p:txBody>
      </p:sp>
      <p:sp>
        <p:nvSpPr>
          <p:cNvPr id="7" name="Shape 4"/>
          <p:cNvSpPr/>
          <p:nvPr/>
        </p:nvSpPr>
        <p:spPr>
          <a:xfrm>
            <a:off x="5852160" y="1280160"/>
            <a:ext cx="2743200" cy="3291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8" name="Text 5"/>
          <p:cNvSpPr/>
          <p:nvPr/>
        </p:nvSpPr>
        <p:spPr>
          <a:xfrm>
            <a:off x="6035040" y="1371600"/>
            <a:ext cx="237744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Key Observations</a:t>
            </a:r>
            <a:endParaRPr lang="en-US" sz="1400" dirty="0"/>
          </a:p>
        </p:txBody>
      </p:sp>
      <p:sp>
        <p:nvSpPr>
          <p:cNvPr id="9" name="Text 6"/>
          <p:cNvSpPr/>
          <p:nvPr/>
        </p:nvSpPr>
        <p:spPr>
          <a:xfrm>
            <a:off x="6035040" y="1783080"/>
            <a:ext cx="2377440" cy="2743200"/>
          </a:xfrm>
          <a:prstGeom prst="rect">
            <a:avLst/>
          </a:prstGeom>
          <a:noFill/>
          <a:ln/>
        </p:spPr>
        <p:txBody>
          <a:bodyPr wrap="square" rtlCol="0" anchor="ctr"/>
          <a:lstStyle/>
          <a:p>
            <a:pPr marL="342900" indent="-342900">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Undersampling pushes Yes-TPR highest</a:t>
            </a:r>
            <a:endParaRPr lang="en-US" sz="1100" dirty="0"/>
          </a:p>
          <a:p>
            <a:pPr marL="342900" indent="-342900">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Oversampling / SMOTE favor No-TPR</a:t>
            </a:r>
            <a:endParaRPr lang="en-US" sz="1100" dirty="0"/>
          </a:p>
          <a:p>
            <a:pPr marL="342900" indent="-342900">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Tree ensembles cluster in the upper band</a:t>
            </a:r>
            <a:endParaRPr lang="en-US" sz="1100" dirty="0"/>
          </a:p>
          <a:p>
            <a:pPr marL="342900" indent="-342900">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ROSE under-performs other balancers</a:t>
            </a:r>
            <a:endParaRPr lang="en-US" sz="1100" dirty="0"/>
          </a:p>
          <a:p>
            <a:pPr marL="342900" indent="-342900">
              <a:spcAft>
                <a:spcPts val="600"/>
              </a:spcAft>
              <a:buSzPct val="100000"/>
              <a:buChar char="•"/>
            </a:pPr>
            <a:r>
              <a:rPr lang="en-US" sz="1100" b="1" dirty="0">
                <a:solidFill>
                  <a:srgbClr val="333333"/>
                </a:solidFill>
                <a:latin typeface="Calibri" pitchFamily="34" charset="0"/>
                <a:ea typeface="Calibri" pitchFamily="34" charset="-122"/>
                <a:cs typeface="Calibri" pitchFamily="34" charset="-120"/>
              </a:rPr>
              <a:t>Only a handful cross both thresholds</a:t>
            </a:r>
            <a:endParaRPr lang="en-US" sz="1100" dirty="0"/>
          </a:p>
        </p:txBody>
      </p:sp>
      <p:sp>
        <p:nvSpPr>
          <p:cNvPr id="10" name="Text 7"/>
          <p:cNvSpPr/>
          <p:nvPr/>
        </p:nvSpPr>
        <p:spPr>
          <a:xfrm>
            <a:off x="548640" y="4800600"/>
            <a:ext cx="8046720" cy="274320"/>
          </a:xfrm>
          <a:prstGeom prst="rect">
            <a:avLst/>
          </a:prstGeom>
          <a:noFill/>
          <a:ln/>
        </p:spPr>
        <p:txBody>
          <a:bodyPr wrap="square" rtlCol="0" anchor="ctr"/>
          <a:lstStyle/>
          <a:p>
            <a:pPr marL="0" indent="0" algn="r">
              <a:buNone/>
            </a:pPr>
            <a:r>
              <a:rPr lang="en-US" sz="900" dirty="0">
                <a:solidFill>
                  <a:srgbClr val="777777"/>
                </a:solidFill>
                <a:latin typeface="Calibri" pitchFamily="34" charset="0"/>
                <a:ea typeface="Calibri" pitchFamily="34" charset="-122"/>
                <a:cs typeface="Calibri" pitchFamily="34" charset="-120"/>
              </a:rPr>
              <a:t>Weitao Peng  |  Slide 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4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Best Model — Undersampling + Decision Tree</a:t>
            </a:r>
            <a:endParaRPr lang="en-US" sz="2800" dirty="0"/>
          </a:p>
        </p:txBody>
      </p:sp>
      <p:sp>
        <p:nvSpPr>
          <p:cNvPr id="3" name="Shape 1"/>
          <p:cNvSpPr/>
          <p:nvPr/>
        </p:nvSpPr>
        <p:spPr>
          <a:xfrm>
            <a:off x="548640" y="868680"/>
            <a:ext cx="1188720" cy="36576"/>
          </a:xfrm>
          <a:prstGeom prst="rect">
            <a:avLst/>
          </a:prstGeom>
          <a:solidFill>
            <a:srgbClr val="E85D04"/>
          </a:solidFill>
          <a:ln/>
        </p:spPr>
        <p:txBody>
          <a:bodyPr/>
          <a:lstStyle/>
          <a:p>
            <a:endParaRPr lang="en-US"/>
          </a:p>
        </p:txBody>
      </p:sp>
      <p:sp>
        <p:nvSpPr>
          <p:cNvPr id="4" name="Text 2"/>
          <p:cNvSpPr/>
          <p:nvPr/>
        </p:nvSpPr>
        <p:spPr>
          <a:xfrm>
            <a:off x="548640" y="914400"/>
            <a:ext cx="8046720" cy="320040"/>
          </a:xfrm>
          <a:prstGeom prst="rect">
            <a:avLst/>
          </a:prstGeom>
          <a:noFill/>
          <a:ln/>
        </p:spPr>
        <p:txBody>
          <a:bodyPr wrap="square" rtlCol="0" anchor="ctr"/>
          <a:lstStyle/>
          <a:p>
            <a:pPr marL="0" indent="0">
              <a:buNone/>
            </a:pPr>
            <a:r>
              <a:rPr lang="en-US" sz="1300" i="1" dirty="0">
                <a:solidFill>
                  <a:srgbClr val="777777"/>
                </a:solidFill>
                <a:latin typeface="Calibri" pitchFamily="34" charset="0"/>
                <a:ea typeface="Calibri" pitchFamily="34" charset="-122"/>
                <a:cs typeface="Calibri" pitchFamily="34" charset="-120"/>
              </a:rPr>
              <a:t>Only configuration that crosses both extra-credit thresholds</a:t>
            </a:r>
            <a:endParaRPr lang="en-US" sz="1300" dirty="0"/>
          </a:p>
        </p:txBody>
      </p:sp>
      <p:sp>
        <p:nvSpPr>
          <p:cNvPr id="5" name="Shape 3"/>
          <p:cNvSpPr/>
          <p:nvPr/>
        </p:nvSpPr>
        <p:spPr>
          <a:xfrm>
            <a:off x="548640" y="1280160"/>
            <a:ext cx="3840480" cy="3291840"/>
          </a:xfrm>
          <a:prstGeom prst="rect">
            <a:avLst/>
          </a:prstGeom>
          <a:solidFill>
            <a:srgbClr val="1E2761"/>
          </a:solidFill>
          <a:ln/>
          <a:effectLst>
            <a:outerShdw blurRad="76200" dist="25400" dir="8100000" algn="bl" rotWithShape="0">
              <a:srgbClr val="000000">
                <a:alpha val="12000"/>
              </a:srgbClr>
            </a:outerShdw>
          </a:effectLst>
        </p:spPr>
        <p:txBody>
          <a:bodyPr/>
          <a:lstStyle/>
          <a:p>
            <a:endParaRPr lang="en-US"/>
          </a:p>
        </p:txBody>
      </p:sp>
      <p:sp>
        <p:nvSpPr>
          <p:cNvPr id="6" name="Text 4"/>
          <p:cNvSpPr/>
          <p:nvPr/>
        </p:nvSpPr>
        <p:spPr>
          <a:xfrm>
            <a:off x="731520" y="1371600"/>
            <a:ext cx="3657600" cy="365760"/>
          </a:xfrm>
          <a:prstGeom prst="rect">
            <a:avLst/>
          </a:prstGeom>
          <a:noFill/>
          <a:ln/>
        </p:spPr>
        <p:txBody>
          <a:bodyPr wrap="square" rtlCol="0" anchor="ctr"/>
          <a:lstStyle/>
          <a:p>
            <a:pPr marL="0" indent="0">
              <a:buNone/>
            </a:pPr>
            <a:r>
              <a:rPr lang="en-US" sz="1600" b="1" dirty="0">
                <a:solidFill>
                  <a:srgbClr val="E85D04"/>
                </a:solidFill>
                <a:latin typeface="Calibri" pitchFamily="34" charset="0"/>
                <a:ea typeface="Calibri" pitchFamily="34" charset="-122"/>
                <a:cs typeface="Calibri" pitchFamily="34" charset="-120"/>
              </a:rPr>
              <a:t>Model 2</a:t>
            </a:r>
            <a:endParaRPr lang="en-US" sz="1600" dirty="0"/>
          </a:p>
        </p:txBody>
      </p:sp>
      <p:sp>
        <p:nvSpPr>
          <p:cNvPr id="7" name="Text 5"/>
          <p:cNvSpPr/>
          <p:nvPr/>
        </p:nvSpPr>
        <p:spPr>
          <a:xfrm>
            <a:off x="731520" y="1737360"/>
            <a:ext cx="3657600" cy="365760"/>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Under-sampling + Decision Tree</a:t>
            </a:r>
            <a:endParaRPr lang="en-US" sz="1300" dirty="0"/>
          </a:p>
        </p:txBody>
      </p:sp>
      <p:sp>
        <p:nvSpPr>
          <p:cNvPr id="8" name="Text 6"/>
          <p:cNvSpPr/>
          <p:nvPr/>
        </p:nvSpPr>
        <p:spPr>
          <a:xfrm>
            <a:off x="731520" y="2240280"/>
            <a:ext cx="1371600" cy="320040"/>
          </a:xfrm>
          <a:prstGeom prst="rect">
            <a:avLst/>
          </a:prstGeom>
          <a:noFill/>
          <a:ln/>
        </p:spPr>
        <p:txBody>
          <a:bodyPr wrap="square" rtlCol="0" anchor="ctr"/>
          <a:lstStyle/>
          <a:p>
            <a:pPr marL="0" indent="0">
              <a:buNone/>
            </a:pPr>
            <a:r>
              <a:rPr lang="en-US" sz="1200" dirty="0">
                <a:solidFill>
                  <a:srgbClr val="EEEEEE"/>
                </a:solidFill>
                <a:latin typeface="Calibri" pitchFamily="34" charset="0"/>
                <a:ea typeface="Calibri" pitchFamily="34" charset="-122"/>
                <a:cs typeface="Calibri" pitchFamily="34" charset="-120"/>
              </a:rPr>
              <a:t>Yes TPR</a:t>
            </a:r>
            <a:endParaRPr lang="en-US" sz="1200" dirty="0"/>
          </a:p>
        </p:txBody>
      </p:sp>
      <p:sp>
        <p:nvSpPr>
          <p:cNvPr id="9" name="Text 7"/>
          <p:cNvSpPr/>
          <p:nvPr/>
        </p:nvSpPr>
        <p:spPr>
          <a:xfrm>
            <a:off x="2103120" y="2240280"/>
            <a:ext cx="9144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0.7730</a:t>
            </a:r>
            <a:endParaRPr lang="en-US" sz="1400" dirty="0"/>
          </a:p>
        </p:txBody>
      </p:sp>
      <p:sp>
        <p:nvSpPr>
          <p:cNvPr id="10" name="Text 8"/>
          <p:cNvSpPr/>
          <p:nvPr/>
        </p:nvSpPr>
        <p:spPr>
          <a:xfrm>
            <a:off x="3017520" y="2240280"/>
            <a:ext cx="1371600" cy="320040"/>
          </a:xfrm>
          <a:prstGeom prst="rect">
            <a:avLst/>
          </a:prstGeom>
          <a:noFill/>
          <a:ln/>
        </p:spPr>
        <p:txBody>
          <a:bodyPr wrap="square" rtlCol="0" anchor="ctr"/>
          <a:lstStyle/>
          <a:p>
            <a:pPr marL="0" indent="0">
              <a:buNone/>
            </a:pPr>
            <a:r>
              <a:rPr lang="en-US" sz="900" i="1" dirty="0">
                <a:solidFill>
                  <a:srgbClr val="E85D04"/>
                </a:solidFill>
                <a:latin typeface="Calibri" pitchFamily="34" charset="0"/>
                <a:ea typeface="Calibri" pitchFamily="34" charset="-122"/>
                <a:cs typeface="Calibri" pitchFamily="34" charset="-120"/>
              </a:rPr>
              <a:t>≥ 0.77 required</a:t>
            </a:r>
            <a:endParaRPr lang="en-US" sz="900" dirty="0"/>
          </a:p>
        </p:txBody>
      </p:sp>
      <p:sp>
        <p:nvSpPr>
          <p:cNvPr id="11" name="Text 9"/>
          <p:cNvSpPr/>
          <p:nvPr/>
        </p:nvSpPr>
        <p:spPr>
          <a:xfrm>
            <a:off x="731520" y="2606040"/>
            <a:ext cx="1371600" cy="320040"/>
          </a:xfrm>
          <a:prstGeom prst="rect">
            <a:avLst/>
          </a:prstGeom>
          <a:noFill/>
          <a:ln/>
        </p:spPr>
        <p:txBody>
          <a:bodyPr wrap="square" rtlCol="0" anchor="ctr"/>
          <a:lstStyle/>
          <a:p>
            <a:pPr marL="0" indent="0">
              <a:buNone/>
            </a:pPr>
            <a:r>
              <a:rPr lang="en-US" sz="1200" dirty="0">
                <a:solidFill>
                  <a:srgbClr val="EEEEEE"/>
                </a:solidFill>
                <a:latin typeface="Calibri" pitchFamily="34" charset="0"/>
                <a:ea typeface="Calibri" pitchFamily="34" charset="-122"/>
                <a:cs typeface="Calibri" pitchFamily="34" charset="-120"/>
              </a:rPr>
              <a:t>No TPR</a:t>
            </a:r>
            <a:endParaRPr lang="en-US" sz="1200" dirty="0"/>
          </a:p>
        </p:txBody>
      </p:sp>
      <p:sp>
        <p:nvSpPr>
          <p:cNvPr id="12" name="Text 10"/>
          <p:cNvSpPr/>
          <p:nvPr/>
        </p:nvSpPr>
        <p:spPr>
          <a:xfrm>
            <a:off x="2103120" y="2606040"/>
            <a:ext cx="9144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0.7322</a:t>
            </a:r>
            <a:endParaRPr lang="en-US" sz="1400" dirty="0"/>
          </a:p>
        </p:txBody>
      </p:sp>
      <p:sp>
        <p:nvSpPr>
          <p:cNvPr id="13" name="Text 11"/>
          <p:cNvSpPr/>
          <p:nvPr/>
        </p:nvSpPr>
        <p:spPr>
          <a:xfrm>
            <a:off x="3017520" y="2606040"/>
            <a:ext cx="1371600" cy="320040"/>
          </a:xfrm>
          <a:prstGeom prst="rect">
            <a:avLst/>
          </a:prstGeom>
          <a:noFill/>
          <a:ln/>
        </p:spPr>
        <p:txBody>
          <a:bodyPr wrap="square" rtlCol="0" anchor="ctr"/>
          <a:lstStyle/>
          <a:p>
            <a:pPr marL="0" indent="0">
              <a:buNone/>
            </a:pPr>
            <a:r>
              <a:rPr lang="en-US" sz="900" i="1" dirty="0">
                <a:solidFill>
                  <a:srgbClr val="E85D04"/>
                </a:solidFill>
                <a:latin typeface="Calibri" pitchFamily="34" charset="0"/>
                <a:ea typeface="Calibri" pitchFamily="34" charset="-122"/>
                <a:cs typeface="Calibri" pitchFamily="34" charset="-120"/>
              </a:rPr>
              <a:t>≥ 0.73 required</a:t>
            </a:r>
            <a:endParaRPr lang="en-US" sz="900" dirty="0"/>
          </a:p>
        </p:txBody>
      </p:sp>
      <p:sp>
        <p:nvSpPr>
          <p:cNvPr id="14" name="Text 12"/>
          <p:cNvSpPr/>
          <p:nvPr/>
        </p:nvSpPr>
        <p:spPr>
          <a:xfrm>
            <a:off x="731520" y="2971800"/>
            <a:ext cx="1371600" cy="320040"/>
          </a:xfrm>
          <a:prstGeom prst="rect">
            <a:avLst/>
          </a:prstGeom>
          <a:noFill/>
          <a:ln/>
        </p:spPr>
        <p:txBody>
          <a:bodyPr wrap="square" rtlCol="0" anchor="ctr"/>
          <a:lstStyle/>
          <a:p>
            <a:pPr marL="0" indent="0">
              <a:buNone/>
            </a:pPr>
            <a:r>
              <a:rPr lang="en-US" sz="1200" dirty="0">
                <a:solidFill>
                  <a:srgbClr val="EEEEEE"/>
                </a:solidFill>
                <a:latin typeface="Calibri" pitchFamily="34" charset="0"/>
                <a:ea typeface="Calibri" pitchFamily="34" charset="-122"/>
                <a:cs typeface="Calibri" pitchFamily="34" charset="-120"/>
              </a:rPr>
              <a:t>AUC</a:t>
            </a:r>
            <a:endParaRPr lang="en-US" sz="1200" dirty="0"/>
          </a:p>
        </p:txBody>
      </p:sp>
      <p:sp>
        <p:nvSpPr>
          <p:cNvPr id="15" name="Text 13"/>
          <p:cNvSpPr/>
          <p:nvPr/>
        </p:nvSpPr>
        <p:spPr>
          <a:xfrm>
            <a:off x="2103120" y="2971800"/>
            <a:ext cx="9144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0.7990</a:t>
            </a:r>
            <a:endParaRPr lang="en-US" sz="1400" dirty="0"/>
          </a:p>
        </p:txBody>
      </p:sp>
      <p:sp>
        <p:nvSpPr>
          <p:cNvPr id="16" name="Text 14"/>
          <p:cNvSpPr/>
          <p:nvPr/>
        </p:nvSpPr>
        <p:spPr>
          <a:xfrm>
            <a:off x="731520" y="3337560"/>
            <a:ext cx="1371600" cy="320040"/>
          </a:xfrm>
          <a:prstGeom prst="rect">
            <a:avLst/>
          </a:prstGeom>
          <a:noFill/>
          <a:ln/>
        </p:spPr>
        <p:txBody>
          <a:bodyPr wrap="square" rtlCol="0" anchor="ctr"/>
          <a:lstStyle/>
          <a:p>
            <a:pPr marL="0" indent="0">
              <a:buNone/>
            </a:pPr>
            <a:r>
              <a:rPr lang="en-US" sz="1200" dirty="0">
                <a:solidFill>
                  <a:srgbClr val="EEEEEE"/>
                </a:solidFill>
                <a:latin typeface="Calibri" pitchFamily="34" charset="0"/>
                <a:ea typeface="Calibri" pitchFamily="34" charset="-122"/>
                <a:cs typeface="Calibri" pitchFamily="34" charset="-120"/>
              </a:rPr>
              <a:t>F1 (Yes)</a:t>
            </a:r>
            <a:endParaRPr lang="en-US" sz="1200" dirty="0"/>
          </a:p>
        </p:txBody>
      </p:sp>
      <p:sp>
        <p:nvSpPr>
          <p:cNvPr id="17" name="Text 15"/>
          <p:cNvSpPr/>
          <p:nvPr/>
        </p:nvSpPr>
        <p:spPr>
          <a:xfrm>
            <a:off x="2103120" y="3337560"/>
            <a:ext cx="9144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0.6140</a:t>
            </a:r>
            <a:endParaRPr lang="en-US" sz="1400" dirty="0"/>
          </a:p>
        </p:txBody>
      </p:sp>
      <p:sp>
        <p:nvSpPr>
          <p:cNvPr id="18" name="Text 16"/>
          <p:cNvSpPr/>
          <p:nvPr/>
        </p:nvSpPr>
        <p:spPr>
          <a:xfrm>
            <a:off x="731520" y="3703320"/>
            <a:ext cx="1371600" cy="320040"/>
          </a:xfrm>
          <a:prstGeom prst="rect">
            <a:avLst/>
          </a:prstGeom>
          <a:noFill/>
          <a:ln/>
        </p:spPr>
        <p:txBody>
          <a:bodyPr wrap="square" rtlCol="0" anchor="ctr"/>
          <a:lstStyle/>
          <a:p>
            <a:pPr marL="0" indent="0">
              <a:buNone/>
            </a:pPr>
            <a:r>
              <a:rPr lang="en-US" sz="1200" dirty="0">
                <a:solidFill>
                  <a:srgbClr val="EEEEEE"/>
                </a:solidFill>
                <a:latin typeface="Calibri" pitchFamily="34" charset="0"/>
                <a:ea typeface="Calibri" pitchFamily="34" charset="-122"/>
                <a:cs typeface="Calibri" pitchFamily="34" charset="-120"/>
              </a:rPr>
              <a:t>Kappa</a:t>
            </a:r>
            <a:endParaRPr lang="en-US" sz="1200" dirty="0"/>
          </a:p>
        </p:txBody>
      </p:sp>
      <p:sp>
        <p:nvSpPr>
          <p:cNvPr id="19" name="Text 17"/>
          <p:cNvSpPr/>
          <p:nvPr/>
        </p:nvSpPr>
        <p:spPr>
          <a:xfrm>
            <a:off x="2103120" y="3703320"/>
            <a:ext cx="9144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0.4582</a:t>
            </a:r>
            <a:endParaRPr lang="en-US" sz="1400" dirty="0"/>
          </a:p>
        </p:txBody>
      </p:sp>
      <p:pic>
        <p:nvPicPr>
          <p:cNvPr id="20" name="Image 0" descr="D:\VS Code\VS Code Project\BU\699 HW\Project_New\charts\chart6_tprsum_top10.png"/>
          <p:cNvPicPr>
            <a:picLocks noChangeAspect="1"/>
          </p:cNvPicPr>
          <p:nvPr/>
        </p:nvPicPr>
        <p:blipFill>
          <a:blip r:embed="rId3"/>
          <a:stretch>
            <a:fillRect/>
          </a:stretch>
        </p:blipFill>
        <p:spPr>
          <a:xfrm>
            <a:off x="4572000" y="1280160"/>
            <a:ext cx="4023360" cy="3291840"/>
          </a:xfrm>
          <a:prstGeom prst="rect">
            <a:avLst/>
          </a:prstGeom>
        </p:spPr>
      </p:pic>
      <p:sp>
        <p:nvSpPr>
          <p:cNvPr id="21" name="Text 18"/>
          <p:cNvSpPr/>
          <p:nvPr/>
        </p:nvSpPr>
        <p:spPr>
          <a:xfrm>
            <a:off x="4572000" y="4572000"/>
            <a:ext cx="4023360" cy="228600"/>
          </a:xfrm>
          <a:prstGeom prst="rect">
            <a:avLst/>
          </a:prstGeom>
          <a:noFill/>
          <a:ln/>
        </p:spPr>
        <p:txBody>
          <a:bodyPr wrap="square" rtlCol="0" anchor="ctr"/>
          <a:lstStyle/>
          <a:p>
            <a:pPr marL="0" indent="0" algn="ctr">
              <a:buNone/>
            </a:pPr>
            <a:r>
              <a:rPr lang="en-US" sz="1000" i="1" dirty="0">
                <a:solidFill>
                  <a:srgbClr val="777777"/>
                </a:solidFill>
                <a:latin typeface="Calibri" pitchFamily="34" charset="0"/>
                <a:ea typeface="Calibri" pitchFamily="34" charset="-122"/>
                <a:cs typeface="Calibri" pitchFamily="34" charset="-120"/>
              </a:rPr>
              <a:t>Figure 3. Top 10 models ranked by combined TPR (Yes + No)</a:t>
            </a:r>
            <a:endParaRPr lang="en-US" sz="1000" dirty="0"/>
          </a:p>
        </p:txBody>
      </p:sp>
      <p:sp>
        <p:nvSpPr>
          <p:cNvPr id="22" name="Text 19"/>
          <p:cNvSpPr/>
          <p:nvPr/>
        </p:nvSpPr>
        <p:spPr>
          <a:xfrm>
            <a:off x="548640" y="4800600"/>
            <a:ext cx="8046720" cy="274320"/>
          </a:xfrm>
          <a:prstGeom prst="rect">
            <a:avLst/>
          </a:prstGeom>
          <a:noFill/>
          <a:ln/>
        </p:spPr>
        <p:txBody>
          <a:bodyPr wrap="square" rtlCol="0" anchor="ctr"/>
          <a:lstStyle/>
          <a:p>
            <a:pPr marL="0" indent="0" algn="r">
              <a:buNone/>
            </a:pPr>
            <a:r>
              <a:rPr lang="en-US" sz="900" dirty="0">
                <a:solidFill>
                  <a:srgbClr val="777777"/>
                </a:solidFill>
                <a:latin typeface="Calibri" pitchFamily="34" charset="0"/>
                <a:ea typeface="Calibri" pitchFamily="34" charset="-122"/>
                <a:cs typeface="Calibri" pitchFamily="34" charset="-120"/>
              </a:rPr>
              <a:t>Weitao Peng  |  Slide 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4F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Key Findings</a:t>
            </a:r>
            <a:endParaRPr lang="en-US" sz="2800" dirty="0"/>
          </a:p>
        </p:txBody>
      </p:sp>
      <p:sp>
        <p:nvSpPr>
          <p:cNvPr id="3" name="Shape 1"/>
          <p:cNvSpPr/>
          <p:nvPr/>
        </p:nvSpPr>
        <p:spPr>
          <a:xfrm>
            <a:off x="548640" y="868680"/>
            <a:ext cx="1188720" cy="36576"/>
          </a:xfrm>
          <a:prstGeom prst="rect">
            <a:avLst/>
          </a:prstGeom>
          <a:solidFill>
            <a:srgbClr val="E85D04"/>
          </a:solidFill>
          <a:ln/>
        </p:spPr>
        <p:txBody>
          <a:bodyPr/>
          <a:lstStyle/>
          <a:p>
            <a:endParaRPr lang="en-US"/>
          </a:p>
        </p:txBody>
      </p:sp>
      <p:sp>
        <p:nvSpPr>
          <p:cNvPr id="4" name="Text 2"/>
          <p:cNvSpPr/>
          <p:nvPr/>
        </p:nvSpPr>
        <p:spPr>
          <a:xfrm>
            <a:off x="548640" y="914400"/>
            <a:ext cx="8046720" cy="320040"/>
          </a:xfrm>
          <a:prstGeom prst="rect">
            <a:avLst/>
          </a:prstGeom>
          <a:noFill/>
          <a:ln/>
        </p:spPr>
        <p:txBody>
          <a:bodyPr wrap="square" rtlCol="0" anchor="ctr"/>
          <a:lstStyle/>
          <a:p>
            <a:pPr marL="0" indent="0">
              <a:buNone/>
            </a:pPr>
            <a:r>
              <a:rPr lang="en-US" sz="1300" i="1" dirty="0">
                <a:solidFill>
                  <a:srgbClr val="777777"/>
                </a:solidFill>
                <a:latin typeface="Calibri" pitchFamily="34" charset="0"/>
                <a:ea typeface="Calibri" pitchFamily="34" charset="-122"/>
                <a:cs typeface="Calibri" pitchFamily="34" charset="-120"/>
              </a:rPr>
              <a:t>Lessons from 36 model configurations</a:t>
            </a:r>
            <a:endParaRPr lang="en-US" sz="1300" dirty="0"/>
          </a:p>
        </p:txBody>
      </p:sp>
      <p:sp>
        <p:nvSpPr>
          <p:cNvPr id="5" name="Shape 3"/>
          <p:cNvSpPr/>
          <p:nvPr/>
        </p:nvSpPr>
        <p:spPr>
          <a:xfrm>
            <a:off x="548640" y="1371600"/>
            <a:ext cx="3931920" cy="1417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548640" y="1371600"/>
            <a:ext cx="137160" cy="1417320"/>
          </a:xfrm>
          <a:prstGeom prst="rect">
            <a:avLst/>
          </a:prstGeom>
          <a:solidFill>
            <a:srgbClr val="E85D04"/>
          </a:solidFill>
          <a:ln/>
        </p:spPr>
        <p:txBody>
          <a:bodyPr/>
          <a:lstStyle/>
          <a:p>
            <a:endParaRPr lang="en-US"/>
          </a:p>
        </p:txBody>
      </p:sp>
      <p:sp>
        <p:nvSpPr>
          <p:cNvPr id="7" name="Text 5"/>
          <p:cNvSpPr/>
          <p:nvPr/>
        </p:nvSpPr>
        <p:spPr>
          <a:xfrm>
            <a:off x="822960" y="1463040"/>
            <a:ext cx="3657600" cy="41148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Balancing beats accuracy chasing</a:t>
            </a:r>
            <a:endParaRPr lang="en-US" sz="1400" dirty="0"/>
          </a:p>
        </p:txBody>
      </p:sp>
      <p:sp>
        <p:nvSpPr>
          <p:cNvPr id="8" name="Text 6"/>
          <p:cNvSpPr/>
          <p:nvPr/>
        </p:nvSpPr>
        <p:spPr>
          <a:xfrm>
            <a:off x="822960" y="1920240"/>
            <a:ext cx="3657600" cy="82296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Undersampling unlocked the highest Yes-TPR despite shrinking the training set to ~5.8K rows.</a:t>
            </a:r>
            <a:endParaRPr lang="en-US" sz="1100" dirty="0"/>
          </a:p>
        </p:txBody>
      </p:sp>
      <p:sp>
        <p:nvSpPr>
          <p:cNvPr id="9" name="Shape 7"/>
          <p:cNvSpPr/>
          <p:nvPr/>
        </p:nvSpPr>
        <p:spPr>
          <a:xfrm>
            <a:off x="4663440" y="1371600"/>
            <a:ext cx="3931920" cy="1417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4663440" y="1371600"/>
            <a:ext cx="137160" cy="1417320"/>
          </a:xfrm>
          <a:prstGeom prst="rect">
            <a:avLst/>
          </a:prstGeom>
          <a:solidFill>
            <a:srgbClr val="E85D04"/>
          </a:solidFill>
          <a:ln/>
        </p:spPr>
        <p:txBody>
          <a:bodyPr/>
          <a:lstStyle/>
          <a:p>
            <a:endParaRPr lang="en-US"/>
          </a:p>
        </p:txBody>
      </p:sp>
      <p:sp>
        <p:nvSpPr>
          <p:cNvPr id="11" name="Text 9"/>
          <p:cNvSpPr/>
          <p:nvPr/>
        </p:nvSpPr>
        <p:spPr>
          <a:xfrm>
            <a:off x="4937760" y="1463040"/>
            <a:ext cx="3657600" cy="41148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Simple models can win</a:t>
            </a:r>
            <a:endParaRPr lang="en-US" sz="1400" dirty="0"/>
          </a:p>
        </p:txBody>
      </p:sp>
      <p:sp>
        <p:nvSpPr>
          <p:cNvPr id="12" name="Text 10"/>
          <p:cNvSpPr/>
          <p:nvPr/>
        </p:nvSpPr>
        <p:spPr>
          <a:xfrm>
            <a:off x="4937760" y="1920240"/>
            <a:ext cx="3657600" cy="82296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A pruned Decision Tree beat ensembles on the minority-class recall target.</a:t>
            </a:r>
            <a:endParaRPr lang="en-US" sz="1100" dirty="0"/>
          </a:p>
        </p:txBody>
      </p:sp>
      <p:sp>
        <p:nvSpPr>
          <p:cNvPr id="13" name="Shape 11"/>
          <p:cNvSpPr/>
          <p:nvPr/>
        </p:nvSpPr>
        <p:spPr>
          <a:xfrm>
            <a:off x="548640" y="2971800"/>
            <a:ext cx="3931920" cy="1417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2"/>
          <p:cNvSpPr/>
          <p:nvPr/>
        </p:nvSpPr>
        <p:spPr>
          <a:xfrm>
            <a:off x="548640" y="2971800"/>
            <a:ext cx="137160" cy="1417320"/>
          </a:xfrm>
          <a:prstGeom prst="rect">
            <a:avLst/>
          </a:prstGeom>
          <a:solidFill>
            <a:srgbClr val="E85D04"/>
          </a:solidFill>
          <a:ln/>
        </p:spPr>
        <p:txBody>
          <a:bodyPr/>
          <a:lstStyle/>
          <a:p>
            <a:endParaRPr lang="en-US"/>
          </a:p>
        </p:txBody>
      </p:sp>
      <p:sp>
        <p:nvSpPr>
          <p:cNvPr id="15" name="Text 13"/>
          <p:cNvSpPr/>
          <p:nvPr/>
        </p:nvSpPr>
        <p:spPr>
          <a:xfrm>
            <a:off x="822960" y="3063240"/>
            <a:ext cx="3657600" cy="41148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Ensembles dominate overall AUC</a:t>
            </a:r>
            <a:endParaRPr lang="en-US" sz="1400" dirty="0"/>
          </a:p>
        </p:txBody>
      </p:sp>
      <p:sp>
        <p:nvSpPr>
          <p:cNvPr id="16" name="Text 14"/>
          <p:cNvSpPr/>
          <p:nvPr/>
        </p:nvSpPr>
        <p:spPr>
          <a:xfrm>
            <a:off x="822960" y="3520440"/>
            <a:ext cx="3657600" cy="82296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Random Forest and XGBoost top the AUC ranking but underperform Yes-TPR.</a:t>
            </a:r>
            <a:endParaRPr lang="en-US" sz="1100" dirty="0"/>
          </a:p>
        </p:txBody>
      </p:sp>
      <p:sp>
        <p:nvSpPr>
          <p:cNvPr id="17" name="Shape 15"/>
          <p:cNvSpPr/>
          <p:nvPr/>
        </p:nvSpPr>
        <p:spPr>
          <a:xfrm>
            <a:off x="4663440" y="2971800"/>
            <a:ext cx="3931920" cy="1417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8" name="Shape 16"/>
          <p:cNvSpPr/>
          <p:nvPr/>
        </p:nvSpPr>
        <p:spPr>
          <a:xfrm>
            <a:off x="4663440" y="2971800"/>
            <a:ext cx="137160" cy="1417320"/>
          </a:xfrm>
          <a:prstGeom prst="rect">
            <a:avLst/>
          </a:prstGeom>
          <a:solidFill>
            <a:srgbClr val="E85D04"/>
          </a:solidFill>
          <a:ln/>
        </p:spPr>
        <p:txBody>
          <a:bodyPr/>
          <a:lstStyle/>
          <a:p>
            <a:endParaRPr lang="en-US"/>
          </a:p>
        </p:txBody>
      </p:sp>
      <p:sp>
        <p:nvSpPr>
          <p:cNvPr id="19" name="Text 17"/>
          <p:cNvSpPr/>
          <p:nvPr/>
        </p:nvSpPr>
        <p:spPr>
          <a:xfrm>
            <a:off x="4937760" y="3063240"/>
            <a:ext cx="3657600" cy="41148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ROSE offered little lift here</a:t>
            </a:r>
            <a:endParaRPr lang="en-US" sz="1400" dirty="0"/>
          </a:p>
        </p:txBody>
      </p:sp>
      <p:sp>
        <p:nvSpPr>
          <p:cNvPr id="20" name="Text 18"/>
          <p:cNvSpPr/>
          <p:nvPr/>
        </p:nvSpPr>
        <p:spPr>
          <a:xfrm>
            <a:off x="4937760" y="3520440"/>
            <a:ext cx="3657600" cy="82296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Its smoothed-bootstrap samples introduce noise without stabilizing the decision boundary.</a:t>
            </a:r>
            <a:endParaRPr lang="en-US" sz="1100" dirty="0"/>
          </a:p>
        </p:txBody>
      </p:sp>
      <p:sp>
        <p:nvSpPr>
          <p:cNvPr id="21" name="Text 19"/>
          <p:cNvSpPr/>
          <p:nvPr/>
        </p:nvSpPr>
        <p:spPr>
          <a:xfrm>
            <a:off x="548640" y="4800600"/>
            <a:ext cx="8046720" cy="274320"/>
          </a:xfrm>
          <a:prstGeom prst="rect">
            <a:avLst/>
          </a:prstGeom>
          <a:noFill/>
          <a:ln/>
        </p:spPr>
        <p:txBody>
          <a:bodyPr wrap="square" rtlCol="0" anchor="ctr"/>
          <a:lstStyle/>
          <a:p>
            <a:pPr marL="0" indent="0" algn="r">
              <a:buNone/>
            </a:pPr>
            <a:r>
              <a:rPr lang="en-US" sz="900" dirty="0">
                <a:solidFill>
                  <a:srgbClr val="777777"/>
                </a:solidFill>
                <a:latin typeface="Calibri" pitchFamily="34" charset="0"/>
                <a:ea typeface="Calibri" pitchFamily="34" charset="-122"/>
                <a:cs typeface="Calibri" pitchFamily="34" charset="-120"/>
              </a:rPr>
              <a:t>Weitao Peng  |  Slide 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2103120"/>
            <a:ext cx="9144000" cy="914400"/>
          </a:xfrm>
          <a:prstGeom prst="rect">
            <a:avLst/>
          </a:prstGeom>
          <a:solidFill>
            <a:srgbClr val="408EC6">
              <a:alpha val="70000"/>
            </a:srgbClr>
          </a:solidFill>
          <a:ln/>
        </p:spPr>
        <p:txBody>
          <a:bodyPr/>
          <a:lstStyle/>
          <a:p>
            <a:endParaRPr lang="en-US"/>
          </a:p>
        </p:txBody>
      </p:sp>
      <p:sp>
        <p:nvSpPr>
          <p:cNvPr id="3" name="Text 1"/>
          <p:cNvSpPr/>
          <p:nvPr/>
        </p:nvSpPr>
        <p:spPr>
          <a:xfrm>
            <a:off x="731520" y="822960"/>
            <a:ext cx="7680960" cy="731520"/>
          </a:xfrm>
          <a:prstGeom prst="rect">
            <a:avLst/>
          </a:prstGeom>
          <a:noFill/>
          <a:ln/>
        </p:spPr>
        <p:txBody>
          <a:bodyPr wrap="square"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Thank You</a:t>
            </a:r>
            <a:endParaRPr lang="en-US" sz="4000" dirty="0"/>
          </a:p>
        </p:txBody>
      </p:sp>
      <p:sp>
        <p:nvSpPr>
          <p:cNvPr id="4" name="Text 2"/>
          <p:cNvSpPr/>
          <p:nvPr/>
        </p:nvSpPr>
        <p:spPr>
          <a:xfrm>
            <a:off x="731520" y="2240280"/>
            <a:ext cx="7680960" cy="640080"/>
          </a:xfrm>
          <a:prstGeom prst="rect">
            <a:avLst/>
          </a:prstGeom>
          <a:noFill/>
          <a:ln/>
        </p:spPr>
        <p:txBody>
          <a:bodyPr wrap="square" rtlCol="0" anchor="ctr"/>
          <a:lstStyle/>
          <a:p>
            <a:pPr marL="0" indent="0">
              <a:buNone/>
            </a:pPr>
            <a:r>
              <a:rPr lang="en-US" sz="2800" i="1" dirty="0">
                <a:solidFill>
                  <a:srgbClr val="E85D04"/>
                </a:solidFill>
                <a:latin typeface="Georgia" pitchFamily="34" charset="0"/>
                <a:ea typeface="Georgia" pitchFamily="34" charset="-122"/>
                <a:cs typeface="Georgia" pitchFamily="34" charset="-120"/>
              </a:rPr>
              <a:t>Questions?</a:t>
            </a:r>
            <a:endParaRPr lang="en-US" sz="2800" dirty="0"/>
          </a:p>
        </p:txBody>
      </p:sp>
      <p:sp>
        <p:nvSpPr>
          <p:cNvPr id="5" name="Text 3"/>
          <p:cNvSpPr/>
          <p:nvPr/>
        </p:nvSpPr>
        <p:spPr>
          <a:xfrm>
            <a:off x="731520" y="3566160"/>
            <a:ext cx="7680960" cy="548640"/>
          </a:xfrm>
          <a:prstGeom prst="rect">
            <a:avLst/>
          </a:prstGeom>
          <a:noFill/>
          <a:ln/>
        </p:spPr>
        <p:txBody>
          <a:bodyPr wrap="square" rtlCol="0" anchor="ctr"/>
          <a:lstStyle/>
          <a:p>
            <a:pPr marL="0" indent="0">
              <a:buNone/>
            </a:pPr>
            <a:r>
              <a:rPr lang="en-US" sz="1400" b="1" dirty="0">
                <a:solidFill>
                  <a:srgbClr val="E85D04"/>
                </a:solidFill>
                <a:latin typeface="Calibri" pitchFamily="34" charset="0"/>
                <a:ea typeface="Calibri" pitchFamily="34" charset="-122"/>
                <a:cs typeface="Calibri" pitchFamily="34" charset="-120"/>
              </a:rPr>
              <a:t>Takeaway: </a:t>
            </a:r>
            <a:r>
              <a:rPr lang="en-US" sz="1400" dirty="0">
                <a:solidFill>
                  <a:srgbClr val="FFFFFF"/>
                </a:solidFill>
                <a:latin typeface="Calibri" pitchFamily="34" charset="0"/>
                <a:ea typeface="Calibri" pitchFamily="34" charset="-122"/>
                <a:cs typeface="Calibri" pitchFamily="34" charset="-120"/>
              </a:rPr>
              <a:t>Model 2 (Under + Decision Tree) meets both extra-credit thresholds — Yes TPR 0.7730, No TPR 0.7322.</a:t>
            </a:r>
            <a:endParaRPr lang="en-US" sz="1400" dirty="0"/>
          </a:p>
        </p:txBody>
      </p:sp>
      <p:sp>
        <p:nvSpPr>
          <p:cNvPr id="6" name="Text 4"/>
          <p:cNvSpPr/>
          <p:nvPr/>
        </p:nvSpPr>
        <p:spPr>
          <a:xfrm>
            <a:off x="731520" y="4663440"/>
            <a:ext cx="7680960" cy="274320"/>
          </a:xfrm>
          <a:prstGeom prst="rect">
            <a:avLst/>
          </a:prstGeom>
          <a:noFill/>
          <a:ln/>
        </p:spPr>
        <p:txBody>
          <a:bodyPr wrap="square" rtlCol="0" anchor="ctr"/>
          <a:lstStyle/>
          <a:p>
            <a:pPr marL="0" indent="0" algn="ctr">
              <a:buNone/>
            </a:pPr>
            <a:r>
              <a:rPr lang="en-US" sz="1100" dirty="0">
                <a:solidFill>
                  <a:srgbClr val="777777"/>
                </a:solidFill>
                <a:latin typeface="Calibri" pitchFamily="34" charset="0"/>
                <a:ea typeface="Calibri" pitchFamily="34" charset="-122"/>
                <a:cs typeface="Calibri" pitchFamily="34" charset="-120"/>
              </a:rPr>
              <a:t>Ho Man Cheng  |  Weitao Peng   ·   CS699 Data Mining   ·   Spring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2071</Words>
  <Application>Microsoft Office PowerPoint</Application>
  <PresentationFormat>On-screen Show (16:9)</PresentationFormat>
  <Paragraphs>193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CS699 Classification Project</dc:title>
  <dc:subject>PptxGenJS Presentation</dc:subject>
  <dc:creator>Ho Man Cheng, Weitao Peng</dc:creator>
  <cp:lastModifiedBy>Cheng, Mr Ho Man</cp:lastModifiedBy>
  <cp:revision>2</cp:revision>
  <dcterms:created xsi:type="dcterms:W3CDTF">2026-04-15T03:26:26Z</dcterms:created>
  <dcterms:modified xsi:type="dcterms:W3CDTF">2026-04-15T03:39:38Z</dcterms:modified>
</cp:coreProperties>
</file>